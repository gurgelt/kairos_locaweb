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IwXRLkL1jN8HDqM1rEFUAP60o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5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8.png"/><Relationship Id="rId11" Type="http://schemas.openxmlformats.org/officeDocument/2006/relationships/image" Target="../media/image25.png"/><Relationship Id="rId10" Type="http://schemas.openxmlformats.org/officeDocument/2006/relationships/image" Target="../media/image30.png"/><Relationship Id="rId12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hyperlink" Target="https://app.powerbi.com/links/qh5oOHP-vM?ctid=11dbbfe2-89b8-4549-be10-cec364e59551&amp;pbi_source=linkShare" TargetMode="External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33.jpg"/><Relationship Id="rId5" Type="http://schemas.openxmlformats.org/officeDocument/2006/relationships/image" Target="../media/image35.png"/><Relationship Id="rId6" Type="http://schemas.openxmlformats.org/officeDocument/2006/relationships/hyperlink" Target="https://youtu.be/v3YxQyDFvHo?si=iiiqYt5xHw7uboks" TargetMode="External"/><Relationship Id="rId7" Type="http://schemas.openxmlformats.org/officeDocument/2006/relationships/hyperlink" Target="http://www.youtube.com/watch?v=v3YxQyDFvHo" TargetMode="External"/><Relationship Id="rId8" Type="http://schemas.openxmlformats.org/officeDocument/2006/relationships/image" Target="../media/image4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DETALHES DA EQUIPE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Integrantes do Grupo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02920" y="2450592"/>
            <a:ext cx="1980590" cy="26517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502920" y="2450592"/>
            <a:ext cx="198059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926287" y="2834640"/>
            <a:ext cx="1133856" cy="1133856"/>
          </a:xfrm>
          <a:prstGeom prst="ellipse">
            <a:avLst/>
          </a:prstGeom>
          <a:solidFill>
            <a:srgbClr val="141418"/>
          </a:solidFill>
          <a:ln cap="flat" cmpd="sng" w="254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4151376"/>
            <a:ext cx="20720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ARTHUR MEDEIROS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02920" y="4681728"/>
            <a:ext cx="198059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RM561916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803550" y="2450592"/>
            <a:ext cx="1980590" cy="26517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803550" y="2450592"/>
            <a:ext cx="198059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226918" y="2834640"/>
            <a:ext cx="1133856" cy="1133856"/>
          </a:xfrm>
          <a:prstGeom prst="ellipse">
            <a:avLst/>
          </a:prstGeom>
          <a:solidFill>
            <a:srgbClr val="141418"/>
          </a:solidFill>
          <a:ln cap="flat" cmpd="sng" w="254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757830" y="4151376"/>
            <a:ext cx="20720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MIKE RUBIM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803550" y="4681728"/>
            <a:ext cx="198059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RM561888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104181" y="2450592"/>
            <a:ext cx="1980590" cy="26517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04181" y="2450592"/>
            <a:ext cx="198059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527548" y="2834640"/>
            <a:ext cx="1133856" cy="1133856"/>
          </a:xfrm>
          <a:prstGeom prst="ellipse">
            <a:avLst/>
          </a:prstGeom>
          <a:solidFill>
            <a:srgbClr val="141418"/>
          </a:solidFill>
          <a:ln cap="flat" cmpd="sng" w="254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58461" y="4151376"/>
            <a:ext cx="20720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PAULO GURGEL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104181" y="4681728"/>
            <a:ext cx="198059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RM564418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404811" y="2450592"/>
            <a:ext cx="1980590" cy="26517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404811" y="2450592"/>
            <a:ext cx="198059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828178" y="2834640"/>
            <a:ext cx="1133856" cy="1133856"/>
          </a:xfrm>
          <a:prstGeom prst="ellipse">
            <a:avLst/>
          </a:prstGeom>
          <a:solidFill>
            <a:srgbClr val="141418"/>
          </a:solidFill>
          <a:ln cap="flat" cmpd="sng" w="254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59091" y="4151376"/>
            <a:ext cx="20720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PEDRO PEREIRA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404811" y="4681728"/>
            <a:ext cx="198059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RM561520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705442" y="2450592"/>
            <a:ext cx="1980590" cy="26517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705442" y="2450592"/>
            <a:ext cx="198059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128809" y="2834640"/>
            <a:ext cx="1133856" cy="1133856"/>
          </a:xfrm>
          <a:prstGeom prst="ellipse">
            <a:avLst/>
          </a:prstGeom>
          <a:solidFill>
            <a:srgbClr val="141418"/>
          </a:solidFill>
          <a:ln cap="flat" cmpd="sng" w="254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659722" y="4151376"/>
            <a:ext cx="20720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VINÍCIUS ROCHA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705442" y="4681728"/>
            <a:ext cx="198059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RM554974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13587" y="2821940"/>
            <a:ext cx="1159256" cy="1159256"/>
          </a:xfrm>
          <a:custGeom>
            <a:rect b="b" l="l" r="r" t="t"/>
            <a:pathLst>
              <a:path extrusionOk="0" h="2318512" w="2318512">
                <a:moveTo>
                  <a:pt x="0" y="1159256"/>
                </a:moveTo>
                <a:cubicBezTo>
                  <a:pt x="0" y="519049"/>
                  <a:pt x="519049" y="0"/>
                  <a:pt x="1159256" y="0"/>
                </a:cubicBezTo>
                <a:cubicBezTo>
                  <a:pt x="1799463" y="0"/>
                  <a:pt x="2318512" y="519049"/>
                  <a:pt x="2318512" y="1159256"/>
                </a:cubicBezTo>
                <a:cubicBezTo>
                  <a:pt x="2318512" y="1799463"/>
                  <a:pt x="1799463" y="2318512"/>
                  <a:pt x="1159256" y="2318512"/>
                </a:cubicBezTo>
                <a:cubicBezTo>
                  <a:pt x="519049" y="2318512"/>
                  <a:pt x="0" y="1799463"/>
                  <a:pt x="0" y="1159256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40" r="-130" t="0"/>
            </a:stretch>
          </a:blipFill>
          <a:ln cap="sq" cmpd="sng" w="38100">
            <a:solidFill>
              <a:srgbClr val="FF31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214217" y="2821940"/>
            <a:ext cx="1159256" cy="1159256"/>
          </a:xfrm>
          <a:custGeom>
            <a:rect b="b" l="l" r="r" t="t"/>
            <a:pathLst>
              <a:path extrusionOk="0" h="2318512" w="2318512">
                <a:moveTo>
                  <a:pt x="0" y="1159256"/>
                </a:moveTo>
                <a:cubicBezTo>
                  <a:pt x="0" y="519049"/>
                  <a:pt x="519049" y="0"/>
                  <a:pt x="1159256" y="0"/>
                </a:cubicBezTo>
                <a:cubicBezTo>
                  <a:pt x="1799463" y="0"/>
                  <a:pt x="2318512" y="519049"/>
                  <a:pt x="2318512" y="1159256"/>
                </a:cubicBezTo>
                <a:cubicBezTo>
                  <a:pt x="2318512" y="1799463"/>
                  <a:pt x="1799463" y="2318512"/>
                  <a:pt x="1159256" y="2318512"/>
                </a:cubicBezTo>
                <a:cubicBezTo>
                  <a:pt x="519049" y="2318512"/>
                  <a:pt x="0" y="1799463"/>
                  <a:pt x="0" y="1159256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FF31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514848" y="2821940"/>
            <a:ext cx="1159256" cy="1159256"/>
          </a:xfrm>
          <a:custGeom>
            <a:rect b="b" l="l" r="r" t="t"/>
            <a:pathLst>
              <a:path extrusionOk="0" h="2318512" w="2318512">
                <a:moveTo>
                  <a:pt x="0" y="1159256"/>
                </a:moveTo>
                <a:cubicBezTo>
                  <a:pt x="0" y="519049"/>
                  <a:pt x="519049" y="0"/>
                  <a:pt x="1159256" y="0"/>
                </a:cubicBezTo>
                <a:cubicBezTo>
                  <a:pt x="1799463" y="0"/>
                  <a:pt x="2318512" y="519049"/>
                  <a:pt x="2318512" y="1159256"/>
                </a:cubicBezTo>
                <a:cubicBezTo>
                  <a:pt x="2318512" y="1799463"/>
                  <a:pt x="1799463" y="2318512"/>
                  <a:pt x="1159256" y="2318512"/>
                </a:cubicBezTo>
                <a:cubicBezTo>
                  <a:pt x="519049" y="2318512"/>
                  <a:pt x="0" y="1799463"/>
                  <a:pt x="0" y="1159256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FF31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815479" y="2821940"/>
            <a:ext cx="1159256" cy="1159256"/>
          </a:xfrm>
          <a:custGeom>
            <a:rect b="b" l="l" r="r" t="t"/>
            <a:pathLst>
              <a:path extrusionOk="0" h="2318512" w="2318512">
                <a:moveTo>
                  <a:pt x="0" y="1159256"/>
                </a:moveTo>
                <a:cubicBezTo>
                  <a:pt x="0" y="519049"/>
                  <a:pt x="519049" y="0"/>
                  <a:pt x="1159256" y="0"/>
                </a:cubicBezTo>
                <a:cubicBezTo>
                  <a:pt x="1799463" y="0"/>
                  <a:pt x="2318512" y="519049"/>
                  <a:pt x="2318512" y="1159256"/>
                </a:cubicBezTo>
                <a:cubicBezTo>
                  <a:pt x="2318512" y="1799463"/>
                  <a:pt x="1799463" y="2318512"/>
                  <a:pt x="1159256" y="2318512"/>
                </a:cubicBezTo>
                <a:cubicBezTo>
                  <a:pt x="519049" y="2318512"/>
                  <a:pt x="0" y="1799463"/>
                  <a:pt x="0" y="1159256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FF31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116109" y="2821940"/>
            <a:ext cx="1159256" cy="1159256"/>
          </a:xfrm>
          <a:custGeom>
            <a:rect b="b" l="l" r="r" t="t"/>
            <a:pathLst>
              <a:path extrusionOk="0" h="2318512" w="2318512">
                <a:moveTo>
                  <a:pt x="0" y="1159256"/>
                </a:moveTo>
                <a:cubicBezTo>
                  <a:pt x="0" y="519049"/>
                  <a:pt x="519049" y="0"/>
                  <a:pt x="1159256" y="0"/>
                </a:cubicBezTo>
                <a:cubicBezTo>
                  <a:pt x="1799463" y="0"/>
                  <a:pt x="2318512" y="519049"/>
                  <a:pt x="2318512" y="1159256"/>
                </a:cubicBezTo>
                <a:cubicBezTo>
                  <a:pt x="2318512" y="1799463"/>
                  <a:pt x="1799463" y="2318512"/>
                  <a:pt x="1159256" y="2318512"/>
                </a:cubicBezTo>
                <a:cubicBezTo>
                  <a:pt x="519049" y="2318512"/>
                  <a:pt x="0" y="1799463"/>
                  <a:pt x="0" y="1159256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70" l="0" r="0" t="-960"/>
            </a:stretch>
          </a:blipFill>
          <a:ln cap="sq" cmpd="sng" w="38100">
            <a:solidFill>
              <a:srgbClr val="FF31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DETALHES DO PROJETO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Kairós em uma frase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1783080"/>
            <a:ext cx="5989320" cy="41148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02920" y="1783080"/>
            <a:ext cx="82296" cy="41148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rain_red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508760" y="210312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 Final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27432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Kairós é uma plataforma de AIOps que transforma o histórico de incidentes de ITSM da Locaweb em antecipação: prevê o volume de incidentes para D+1 e D+7 por prioridade (P2 e P3), projeta o risco de perda de OLA e agrupa causas raiz recorrentes por processamento de linguagem natural (NLP).</a:t>
            </a:r>
            <a:endParaRPr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766560" y="1783080"/>
            <a:ext cx="4892040" cy="1243584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040880" y="2103120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_red.png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224028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818120" y="1929384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b="1" lang="en-US" sz="2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2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20 %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818120" y="2404872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de erro (MAE) vs. baseline na previsão do volume que consome OLA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66560" y="3218688"/>
            <a:ext cx="4892040" cy="1243584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040880" y="3538728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hield_red.png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0" y="36758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7818120" y="3364992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ROC-AUC 0,85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818120" y="3840480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do classificador de risco de violação de OLA (CatBoost)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766560" y="4654296"/>
            <a:ext cx="4892040" cy="1243584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040880" y="4974336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network_red.png" id="80" name="Google Shape;8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78040" y="511149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818120" y="480060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11.372 → 20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818120" y="5276088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descrições de incidentes reduzidas a clusters nomeáveis por NLP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2 · COMPREENDENDO O DESAFIO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contexto: AIOps na operação da Locaweb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2920" y="173736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Locaweb</a:t>
            </a:r>
            <a:r>
              <a:rPr lang="en-US" sz="14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 — +25 anos, +500 mil sites hospedados, +3,4 milhões de caixas de e-mail — registra incidentes diariamente em uma plataforma de ITSM, classificados por prioridade (P1–P5), produto, categoria e equipe responsável.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3026664"/>
            <a:ext cx="5943600" cy="2761488"/>
          </a:xfrm>
          <a:prstGeom prst="rect">
            <a:avLst/>
          </a:prstGeom>
          <a:solidFill>
            <a:srgbClr val="1B1B21"/>
          </a:solidFill>
          <a:ln cap="flat" cmpd="sng" w="1905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" y="3026664"/>
            <a:ext cx="594360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warning_red.png" id="97" name="Google Shape;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2826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1371600" y="328269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achado que direcionou o projeto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77240" y="3849624"/>
            <a:ext cx="5394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salto de 7× no volume de incidentes em 01/09/2025. </a:t>
            </a:r>
            <a:r>
              <a:rPr lang="en-US" sz="13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Investigamos: 90,7% desses alertas fecham como “Sem Intervenção” (mediana de 8 min) e 3.766 tipos de alerta inéditos surgiram no mesmo dia — uma nova camada de monitoramento gerando ruído automático que </a:t>
            </a:r>
            <a:r>
              <a:rPr b="1" lang="en-US" sz="1300">
                <a:solidFill>
                  <a:srgbClr val="FF3131"/>
                </a:solidFill>
                <a:latin typeface="Calibri"/>
                <a:ea typeface="Calibri"/>
                <a:cs typeface="Calibri"/>
                <a:sym typeface="Calibri"/>
              </a:rPr>
              <a:t>não consome OLA</a:t>
            </a:r>
            <a:r>
              <a:rPr lang="en-US" sz="13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720840" y="3026664"/>
            <a:ext cx="4937760" cy="1298448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9440" y="3410712"/>
            <a:ext cx="548640" cy="54864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ell_red.png" id="102" name="Google Shape;10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8312" y="352958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680960" y="31912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é um problema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80960" y="3557016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Monitoramento reativo: a operação só age depois que o incidente estoura, colocando SLA/OLA em risco.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720840" y="4489704"/>
            <a:ext cx="4937760" cy="1298448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949440" y="4873752"/>
            <a:ext cx="548640" cy="54864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rosshair_red.png"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312" y="49926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7680960" y="46542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pode ser feito?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680960" y="5020056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 antecipação do volume e do risco de violação de OLA, e das causas crônicas que se repetem.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3 · OBJETIVO DO PROJETO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a solução precisa entregar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48056" y="1609344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Quatro objetivos definidos pelo desafio — o Kairós responde a cada um deles.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" y="2148840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654296" y="224028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3232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2960" y="2532888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target_white.png"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691640" y="2514600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Antecipar incidentes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691640" y="3044952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Previsão de volume para o próximo dia (D+1) e a próxima semana (D+7).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254496" y="2148840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405872" y="224028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3232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74536" y="2532888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_white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9128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443216" y="2514600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Identificar tendências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443216" y="3044952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Por prioridade (P2 e P3 obrigatórias), por categoria, produto e item de configuração.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02920" y="4206240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654296" y="429768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3232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2960" y="4590288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gauge_white.png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552" y="4754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1691640" y="4572000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Projetar impacto nos KPIs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691640" y="5102352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Tendência diária de volume e de perda de OLA (estouro do prazo de atendimento).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254496" y="4206240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405872" y="429768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3232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574536" y="4590288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rosshair_white.png" id="143" name="Google Shape;14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9128" y="4754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7443216" y="4572000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Apoiar a decisão operacional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443216" y="5102352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Indicar onde agir preventivamente, com recomendações práticas para a operação.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DETALHES DO PROJETO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Público-alvo × Outputs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Cada camada da operação recebe a informação certa, no formato certo.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2148840"/>
            <a:ext cx="3514344" cy="370332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02920" y="2148840"/>
            <a:ext cx="3514344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22960" y="2468880"/>
            <a:ext cx="658368" cy="658368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erver_red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" y="2624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1600200" y="2459736"/>
            <a:ext cx="2325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Equipe NOC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600200" y="2843784"/>
            <a:ext cx="2325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850"/>
              <a:buFont typeface="Trebuchet MS"/>
              <a:buNone/>
            </a:pPr>
            <a:r>
              <a:rPr b="1" lang="en-US" sz="8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FOCO TÁTICO · RESPOSTA RÁPIDA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338328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RECEBE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22960" y="360273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proativos de curto prazo (D+0 / D+1)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22960" y="420624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FORMATO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2960" y="442569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Notificações no dashboard operacional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22960" y="502920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USO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2960" y="524865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Aviso de picos iminentes, causa provável e sugestão de runbook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337304" y="2148840"/>
            <a:ext cx="3514344" cy="370332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337304" y="2148840"/>
            <a:ext cx="3514344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657344" y="2468880"/>
            <a:ext cx="658368" cy="658368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gs_red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792" y="2624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5434584" y="2459736"/>
            <a:ext cx="2325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Engenharia / SRE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34584" y="2843784"/>
            <a:ext cx="2325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850"/>
              <a:buFont typeface="Trebuchet MS"/>
              <a:buNone/>
            </a:pPr>
            <a:r>
              <a:rPr b="1" lang="en-US" sz="8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FOCO ESTABILIDADE · PREVENÇÃO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657344" y="338328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RECEBE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657344" y="360273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Análises de clusterização a médio prazo (D+7)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657344" y="420624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FORMATO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657344" y="442569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Painel analítico de padrões de falha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657344" y="502920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USO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657344" y="524865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Causas crônicas P2/P3 por produto e onde automatizar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171688" y="2148840"/>
            <a:ext cx="3514344" cy="370332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171688" y="2148840"/>
            <a:ext cx="3514344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491728" y="2468880"/>
            <a:ext cx="658368" cy="658368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trophy_red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7176" y="26243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9268968" y="2459736"/>
            <a:ext cx="2325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Gerência / Liderança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268968" y="2843784"/>
            <a:ext cx="2325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850"/>
              <a:buFont typeface="Trebuchet MS"/>
              <a:buNone/>
            </a:pPr>
            <a:r>
              <a:rPr b="1" lang="en-US" sz="8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FOCO ESTRATÉGICO · KPIS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491728" y="338328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RECEBE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491728" y="360273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consolidada de risco e eficiência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491728" y="420624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FORMATO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491728" y="442569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executivo preditivo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491728" y="5029200"/>
            <a:ext cx="28742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50"/>
              <a:buFont typeface="Trebuchet MS"/>
              <a:buNone/>
            </a:pPr>
            <a:r>
              <a:rPr b="1" lang="en-US" sz="950">
                <a:solidFill>
                  <a:srgbClr val="A7A7B0"/>
                </a:solidFill>
                <a:latin typeface="Trebuchet MS"/>
                <a:ea typeface="Trebuchet MS"/>
                <a:cs typeface="Trebuchet MS"/>
                <a:sym typeface="Trebuchet MS"/>
              </a:rPr>
              <a:t>USO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491728" y="5248656"/>
            <a:ext cx="28742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Projeção de OLA, risco de meta e mapa de atrito por produto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PROPOSTA DA SOLUÇÃO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Como o Kairós resolve o desafio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Uma plataforma de AIOps que integra ingestão de dados de ITSM, engenharia de features temporais/operacionais/semânticas e três famílias de modelos, entregando o resultado em um dashboard de monitoramento contínuo.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02920" y="2514600"/>
            <a:ext cx="2576322" cy="306324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407033" y="2898648"/>
            <a:ext cx="768096" cy="768096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_white.png"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0769" y="307238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502920" y="3813048"/>
            <a:ext cx="25763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Volumetria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04088" y="4251960"/>
            <a:ext cx="217398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Previsão de volume de incidentes (D+1 e D+7) com Prophet e SARIMAX sobre a série que consome OLA.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371850" y="2514600"/>
            <a:ext cx="2576322" cy="306324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275963" y="2898648"/>
            <a:ext cx="768096" cy="768096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hield_white.png" id="213" name="Google Shape;21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9699" y="307238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3371850" y="3813048"/>
            <a:ext cx="25763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Classificação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573018" y="4251960"/>
            <a:ext cx="217398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Risco de violação de OLA por incidente com CatBoost, priorizando a fila de triagem por probabilidade.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240780" y="2514600"/>
            <a:ext cx="2576322" cy="306324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144893" y="2898648"/>
            <a:ext cx="768096" cy="768096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network_white.png" id="218" name="Google Shape;21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8629" y="307238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6240780" y="3813048"/>
            <a:ext cx="25763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Padrões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441948" y="4251960"/>
            <a:ext cx="217398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Clusterização de causas raiz por NLP (TF-IDF + KMeans), agrupando reincidências em grupos nomeáveis.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9109710" y="2514600"/>
            <a:ext cx="2576322" cy="306324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0013823" y="2898648"/>
            <a:ext cx="768096" cy="768096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rosshair_white.png" id="223" name="Google Shape;22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87559" y="307238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9109710" y="3813048"/>
            <a:ext cx="25763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Direcionamento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9310878" y="4251960"/>
            <a:ext cx="217398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Recomendação operacional dinâmica: indica onde agir preventivamente, integrada ao monitoramento contínuo.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ARQUITETURA DA SOLUÇÃO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Arquitetura em nuvem — Azure (produção)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02920" y="1600200"/>
            <a:ext cx="8549640" cy="4617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arquitetura.png" id="238" name="Google Shape;2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737360"/>
            <a:ext cx="827532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9281160" y="1600200"/>
            <a:ext cx="2377440" cy="461772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281160" y="1600200"/>
            <a:ext cx="237744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46404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Padrão Medallion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464040" y="2212848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464040" y="22128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784080" y="2157984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Ingestão do ITSM (Excel/CSV) para o Data Lake ADLS Gen2 (Bronze + Silver).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9464040" y="3017520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9464040" y="30175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9784080" y="2962656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Azure Data Factory orquestra o ETL e carrega a camada Gold no Azure SQL.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9464040" y="3822192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464040" y="38221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784080" y="3767328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CI/CD (GitHub Actions + ACR) publica a imagem; Azure ML treina os modelos.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9464040" y="4626864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9464040" y="46268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784080" y="4572000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ACI executa o scoring diário e grava a previsão de volta no banco.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464040" y="5431536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9464040" y="54315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9784080" y="5376672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Power BI consome o dashboard; observabilidade e rede privada por padrão.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TECNOLOGIAS UTILIZADAS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Stack por camada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02920" y="1737360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02920" y="1737360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58952" y="1956816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db_red.png" id="271" name="Google Shape;2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06654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/>
          <p:nvPr/>
        </p:nvSpPr>
        <p:spPr>
          <a:xfrm>
            <a:off x="1371600" y="192024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Lake — ADLS Gen2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371600" y="2340864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Bronze (bruto imutável) + Silver (enriquecido com features preditivas).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322064" y="1737360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322064" y="1737360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578096" y="1956816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loud_red.png" id="277" name="Google Shape;27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824" y="206654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5190744" y="192024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Azure Data Factory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190744" y="2340864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Orquestra ingestão, Data Flow (Bronze→Silver) e carga da camada Gold.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141208" y="1737360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141208" y="1737360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8397240" y="1956816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erver_red.png" id="283" name="Google Shape;2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6968" y="206654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9009888" y="192024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Azure SQL Database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9009888" y="2340864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Camada Gold — fonte única de verdade para o Power BI e o modelo de ML.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02920" y="3218688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02920" y="3218688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58952" y="3438144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rain_red.png" id="289" name="Google Shape;2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35478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1371600" y="3401568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Azure Machine Learning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371600" y="3822192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Treino, versionamento e registro dos modelos (Prophet, CatBoost, KMeans).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322064" y="3218688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322064" y="3218688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578096" y="3438144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de_red.png" id="295" name="Google Shape;29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7824" y="35478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5190744" y="3401568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Actions + ACR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190744" y="3822192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CI/CD da imagem Docker de scoring; nada entra em produção sem o pipeline.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8141208" y="3218688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141208" y="3218688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397240" y="3438144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olt_red.png" id="301" name="Google Shape;30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6968" y="35478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9009888" y="3401568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Azure Container Instances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009888" y="3822192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Job batch diário de scoring: lê dados, aplica modelos e grava a previsão.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02920" y="4700016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02920" y="4700016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758952" y="4919472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gauge_red.png" id="307" name="Google Shape;30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680" y="50292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1371600" y="4882896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 Insights + Monitor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371600" y="5303520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Observabilidade: logs estruturados, métricas de infra e alertas proativos.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322064" y="4700016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322064" y="4700016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8096" y="4919472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lock_red.png" id="313" name="Google Shape;31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87824" y="50292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/>
          <p:nvPr/>
        </p:nvSpPr>
        <p:spPr>
          <a:xfrm>
            <a:off x="5190744" y="4882896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Vault + Rede Privada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190744" y="5303520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Segredos protegidos e tráfego isolado em VNet com Private Endpoints.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141208" y="4700016"/>
            <a:ext cx="3544824" cy="12801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141208" y="4700016"/>
            <a:ext cx="73152" cy="12801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397240" y="4919472"/>
            <a:ext cx="502920" cy="502920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_red.png" id="319" name="Google Shape;31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06968" y="502920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/>
          <p:nvPr/>
        </p:nvSpPr>
        <p:spPr>
          <a:xfrm>
            <a:off x="9009888" y="4882896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Power BI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9009888" y="5303520"/>
            <a:ext cx="253898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Dashboard executivo em modo Import sobre a camada Gold — 4 páginas.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MODELAGEM PREDITIVA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Modelos avaliados e resultados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0"/>
          <p:cNvGrpSpPr/>
          <p:nvPr/>
        </p:nvGrpSpPr>
        <p:grpSpPr>
          <a:xfrm>
            <a:off x="531883" y="1801368"/>
            <a:ext cx="6720840" cy="4160520"/>
            <a:chOff x="685800" y="1783080"/>
            <a:chExt cx="6720840" cy="4160520"/>
          </a:xfrm>
        </p:grpSpPr>
        <p:sp>
          <p:nvSpPr>
            <p:cNvPr id="334" name="Google Shape;334;p10"/>
            <p:cNvSpPr/>
            <p:nvPr/>
          </p:nvSpPr>
          <p:spPr>
            <a:xfrm>
              <a:off x="685800" y="1783080"/>
              <a:ext cx="6720840" cy="416052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09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685800" y="1783080"/>
              <a:ext cx="6720840" cy="82296"/>
            </a:xfrm>
            <a:prstGeom prst="rect">
              <a:avLst/>
            </a:prstGeom>
            <a:solidFill>
              <a:srgbClr val="FF313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960120" y="20574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Trebuchet MS"/>
                <a:buNone/>
              </a:pPr>
              <a:r>
                <a:rPr b="1" lang="en-US" sz="11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Modelo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3383280" y="2057400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3131"/>
                  </a:solidFill>
                  <a:latin typeface="Calibri"/>
                  <a:ea typeface="Calibri"/>
                  <a:cs typeface="Calibri"/>
                  <a:sym typeface="Calibri"/>
                </a:rPr>
                <a:t>Papel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5669280" y="20574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FF313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9" name="Google Shape;339;p10"/>
            <p:cNvCxnSpPr/>
            <p:nvPr/>
          </p:nvCxnSpPr>
          <p:spPr>
            <a:xfrm>
              <a:off x="960120" y="2468880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0" name="Google Shape;340;p10"/>
            <p:cNvSpPr/>
            <p:nvPr/>
          </p:nvSpPr>
          <p:spPr>
            <a:xfrm>
              <a:off x="960120" y="25146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lang="en-US" sz="125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Baseline sazonal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0"/>
            <p:cNvSpPr/>
            <p:nvPr/>
          </p:nvSpPr>
          <p:spPr>
            <a:xfrm>
              <a:off x="3383280" y="2514600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Referência obrigatória · P2/P3</a:t>
              </a:r>
              <a:endParaRPr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t/>
              </a:r>
              <a:endParaRPr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0"/>
            <p:cNvSpPr/>
            <p:nvPr/>
          </p:nvSpPr>
          <p:spPr>
            <a:xfrm>
              <a:off x="5669280" y="2514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	MAE 5,2 · 11,5</a:t>
              </a:r>
              <a:endParaRPr b="1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t/>
              </a:r>
              <a:endParaRPr b="1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3" name="Google Shape;343;p10"/>
            <p:cNvCxnSpPr/>
            <p:nvPr/>
          </p:nvCxnSpPr>
          <p:spPr>
            <a:xfrm>
              <a:off x="960120" y="3090672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4" name="Google Shape;344;p10"/>
            <p:cNvSpPr/>
            <p:nvPr/>
          </p:nvSpPr>
          <p:spPr>
            <a:xfrm>
              <a:off x="960120" y="3136392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FBF71"/>
                </a:buClr>
                <a:buSzPts val="1250"/>
                <a:buFont typeface="Trebuchet MS"/>
                <a:buNone/>
              </a:pPr>
              <a:r>
                <a:rPr b="1" lang="en-US" sz="1250">
                  <a:solidFill>
                    <a:srgbClr val="2FBF7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Prophet ✓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3383280" y="3136392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Uma série por prioridade (D+1/D+7)</a:t>
              </a:r>
              <a:endParaRPr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t/>
              </a:r>
              <a:endParaRPr sz="12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5669280" y="3136392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MAE 3,9 · 9,1 · −20%</a:t>
              </a:r>
              <a:endParaRPr b="1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t/>
              </a:r>
              <a:endParaRPr b="1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7" name="Google Shape;347;p10"/>
            <p:cNvCxnSpPr/>
            <p:nvPr/>
          </p:nvCxnSpPr>
          <p:spPr>
            <a:xfrm>
              <a:off x="960120" y="3712464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8" name="Google Shape;348;p10"/>
            <p:cNvSpPr/>
            <p:nvPr/>
          </p:nvSpPr>
          <p:spPr>
            <a:xfrm>
              <a:off x="960120" y="3758184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lang="en-US" sz="125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SARIMAX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3383280" y="3758184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Vence no volume bruto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5669280" y="3758184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não escala p/ N séries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1" name="Google Shape;351;p10"/>
            <p:cNvCxnSpPr/>
            <p:nvPr/>
          </p:nvCxnSpPr>
          <p:spPr>
            <a:xfrm>
              <a:off x="960120" y="4334256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10"/>
            <p:cNvSpPr/>
            <p:nvPr/>
          </p:nvSpPr>
          <p:spPr>
            <a:xfrm>
              <a:off x="960120" y="4379976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FBF71"/>
                </a:buClr>
                <a:buSzPts val="1250"/>
                <a:buFont typeface="Trebuchet MS"/>
                <a:buNone/>
              </a:pPr>
              <a:r>
                <a:rPr b="1" lang="en-US" sz="1250">
                  <a:solidFill>
                    <a:srgbClr val="2FBF7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CatBoost ✓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3383280" y="4379976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Risco de violação de OLA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5669280" y="4379976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ROC-AUC 0,84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5" name="Google Shape;355;p10"/>
            <p:cNvCxnSpPr/>
            <p:nvPr/>
          </p:nvCxnSpPr>
          <p:spPr>
            <a:xfrm>
              <a:off x="960120" y="4956048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6" name="Google Shape;356;p10"/>
            <p:cNvSpPr/>
            <p:nvPr/>
          </p:nvSpPr>
          <p:spPr>
            <a:xfrm>
              <a:off x="960120" y="5001768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lang="en-US" sz="125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TF-IDF + KMeans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3383280" y="5001768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lang="en-US" sz="125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Clusters de causa raiz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5669280" y="5001768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lang="en-US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 grupos (k=20)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" name="Google Shape;361;p10"/>
          <p:cNvGrpSpPr/>
          <p:nvPr/>
        </p:nvGrpSpPr>
        <p:grpSpPr>
          <a:xfrm>
            <a:off x="7453877" y="1783080"/>
            <a:ext cx="4206300" cy="4169616"/>
            <a:chOff x="7799846" y="2130552"/>
            <a:chExt cx="4206300" cy="4169616"/>
          </a:xfrm>
        </p:grpSpPr>
        <p:sp>
          <p:nvSpPr>
            <p:cNvPr id="362" name="Google Shape;362;p10"/>
            <p:cNvSpPr/>
            <p:nvPr/>
          </p:nvSpPr>
          <p:spPr>
            <a:xfrm>
              <a:off x="8028446" y="2514600"/>
              <a:ext cx="530400" cy="530400"/>
            </a:xfrm>
            <a:prstGeom prst="ellipse">
              <a:avLst/>
            </a:prstGeom>
            <a:solidFill>
              <a:srgbClr val="1414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7799846" y="5001768"/>
              <a:ext cx="4206300" cy="129840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1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7799846" y="2130552"/>
              <a:ext cx="4206300" cy="129840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1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5" name="Google Shape;36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47318" y="2633472"/>
              <a:ext cx="292608" cy="292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10"/>
            <p:cNvSpPr/>
            <p:nvPr/>
          </p:nvSpPr>
          <p:spPr>
            <a:xfrm>
              <a:off x="8668526" y="2276856"/>
              <a:ext cx="3200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500"/>
                <a:buFont typeface="Trebuchet MS"/>
                <a:buNone/>
              </a:pP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63% das violações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8668526" y="2642616"/>
              <a:ext cx="3200400" cy="7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030"/>
                <a:buFont typeface="Calibri"/>
                <a:buNone/>
              </a:pPr>
              <a:r>
                <a:rPr lang="en-US" sz="103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Revisando apenas 20% da fila por risco, o time captura 62% das violações de OLA — 3,1× melhor que triagem aleatória.</a:t>
              </a:r>
              <a:endParaRPr sz="10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8" name="Google Shape;368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47318" y="5504688"/>
              <a:ext cx="292608" cy="292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0"/>
            <p:cNvSpPr/>
            <p:nvPr/>
          </p:nvSpPr>
          <p:spPr>
            <a:xfrm>
              <a:off x="8668526" y="5148072"/>
              <a:ext cx="3200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500"/>
                <a:buFont typeface="Trebuchet MS"/>
                <a:buNone/>
              </a:pP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Anti-leakage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8668526" y="5513832"/>
              <a:ext cx="3200400" cy="7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030"/>
                <a:buFont typeface="Calibri"/>
                <a:buNone/>
              </a:pPr>
              <a:r>
                <a:rPr lang="en-US" sz="103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SEED=42, split sempre temporal e TimeSeriesSplit de 5 dobras — features de calendário nunca vazam o futuro.</a:t>
              </a:r>
              <a:endParaRPr sz="10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7799846" y="3566160"/>
              <a:ext cx="4206300" cy="129840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1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8668526" y="3712464"/>
              <a:ext cx="3200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500"/>
                <a:buFont typeface="Trebuchet MS"/>
                <a:buNone/>
              </a:pP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.</a:t>
              </a: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020 i</a:t>
              </a: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nc</a:t>
              </a:r>
              <a:r>
                <a:rPr b="1" lang="en-US" sz="1500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identes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3" name="Google Shape;37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47318" y="4069080"/>
              <a:ext cx="292608" cy="292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10"/>
            <p:cNvSpPr/>
            <p:nvPr/>
          </p:nvSpPr>
          <p:spPr>
            <a:xfrm>
              <a:off x="8668526" y="4078224"/>
              <a:ext cx="3200400" cy="7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030"/>
                <a:buFont typeface="Calibri"/>
                <a:buNone/>
              </a:pPr>
              <a:r>
                <a:rPr lang="en-US" sz="1030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A flag oficial de violação de KPI não reproduz a regra documentada — casos pendentes de validação com a Locaweb.</a:t>
              </a:r>
              <a:endParaRPr sz="10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5 · DEMONSTRAÇÃO DA SOLUÇÃO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Executivo — Visão estratégica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502920" y="1645920"/>
            <a:ext cx="827532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02920" y="5989320"/>
            <a:ext cx="8275320" cy="384048"/>
          </a:xfrm>
          <a:prstGeom prst="rect">
            <a:avLst/>
          </a:prstGeom>
          <a:solidFill>
            <a:srgbClr val="141418"/>
          </a:solidFill>
          <a:ln cap="flat" cmpd="sng" w="127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85800" y="5989320"/>
            <a:ext cx="7909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 funcional do dashboard (Power BI):  </a:t>
            </a:r>
            <a:r>
              <a:rPr i="1" lang="en-US" sz="11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https://app.powerbi.com/links/qh5oOHP-vM?ctid=11dbbfe2-89b8-4549-be10-cec364e59551&amp;pbi_source=linkShare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9006840" y="1645920"/>
            <a:ext cx="2651760" cy="4727448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9006840" y="1645920"/>
            <a:ext cx="265176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9189720" y="18288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mostrar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9189720" y="227685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9418320" y="21945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Chance de bater o KPI</a:t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9418320" y="245973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Probabilidade de fechar o ano em cada faixa da meta, por Poisson sobre o ritmo do período.</a:t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9189720" y="323697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9418320" y="31546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Orçamento de quebras</a:t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9418320" y="341985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Acumulado contra o limite do contrato: P2 estourou em 3, P3 tem 67 de folga.</a:t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189720" y="419709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9418320" y="4114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Real vs. previsto</a:t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9418320" y="4379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Volume diário que entra no KPI, com a previsão D+1 e D+7 sobreposta ao realizado.</a:t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9189720" y="515721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9418320" y="50749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Alvo do ano</a:t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9418320" y="534009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lsin · cat31 concentra 13% das quebras de OLA com 0,2% do volume tratado.</a:t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5" y="1627625"/>
            <a:ext cx="8275324" cy="4206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5 · DEMONSTRAÇÃO DA SOLUÇÃO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Visões Operacional e Insights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502920" y="1691640"/>
            <a:ext cx="5408676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502920" y="5120640"/>
            <a:ext cx="5408676" cy="10515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02920" y="5120640"/>
            <a:ext cx="73152" cy="10515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777240" y="5230368"/>
            <a:ext cx="49514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Operação — o que vem e onde agir</a:t>
            </a:r>
            <a:endParaRPr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t/>
            </a:r>
            <a:endParaRPr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777240" y="5596128"/>
            <a:ext cx="49514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Previsão D+1/D+7, dimensionamento de analistas e a fila priorizada por score de ação.</a:t>
            </a:r>
            <a:endParaRPr sz="115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277356" y="1691640"/>
            <a:ext cx="5408676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277356" y="5120640"/>
            <a:ext cx="5408676" cy="105156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6277356" y="5120640"/>
            <a:ext cx="73152" cy="105156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6551676" y="5230368"/>
            <a:ext cx="49514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U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 — o que explica a violação</a:t>
            </a:r>
            <a:endParaRPr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t/>
            </a:r>
            <a:endParaRPr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551676" y="5596128"/>
            <a:ext cx="49514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Peso de cada fator no risco de OLA (SHAP), taxa por equipe e concentração por dia e hora.</a:t>
            </a:r>
            <a:endParaRPr sz="115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5" y="1710475"/>
            <a:ext cx="5408677" cy="324609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  <p:pic>
        <p:nvPicPr>
          <p:cNvPr id="427" name="Google Shape;42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7350" y="1691625"/>
            <a:ext cx="5408675" cy="324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6 · LINK DO VÍDEO PITCH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Vídeo Pitch — solução em formato hands 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2849880" y="1828800"/>
            <a:ext cx="6492240" cy="4069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hero.jpg" id="438" name="Google Shape;438;p13"/>
          <p:cNvPicPr preferRelativeResize="0"/>
          <p:nvPr/>
        </p:nvPicPr>
        <p:blipFill rotWithShape="1">
          <a:blip r:embed="rId4">
            <a:alphaModFix amt="55000"/>
          </a:blip>
          <a:srcRect b="0" l="0" r="0" t="0"/>
          <a:stretch/>
        </p:blipFill>
        <p:spPr>
          <a:xfrm>
            <a:off x="2849880" y="1828800"/>
            <a:ext cx="649224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3"/>
          <p:cNvSpPr/>
          <p:nvPr/>
        </p:nvSpPr>
        <p:spPr>
          <a:xfrm>
            <a:off x="5593080" y="3063240"/>
            <a:ext cx="1005840" cy="1005840"/>
          </a:xfrm>
          <a:prstGeom prst="ellipse">
            <a:avLst/>
          </a:prstGeom>
          <a:solidFill>
            <a:srgbClr val="FF3131"/>
          </a:solidFill>
          <a:ln>
            <a:noFill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play_white.png" id="440" name="Google Shape;44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5104" y="325526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3"/>
          <p:cNvSpPr/>
          <p:nvPr/>
        </p:nvSpPr>
        <p:spPr>
          <a:xfrm>
            <a:off x="3947160" y="4389120"/>
            <a:ext cx="4297680" cy="502920"/>
          </a:xfrm>
          <a:prstGeom prst="rect">
            <a:avLst/>
          </a:prstGeom>
          <a:solidFill>
            <a:srgbClr val="141418"/>
          </a:solidFill>
          <a:ln cap="flat" cmpd="sng" w="1270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3947160" y="5971020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00"/>
              <a:buFont typeface="Calibri"/>
              <a:buNone/>
            </a:pPr>
            <a:r>
              <a:rPr i="1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https://youtu.be/v3YxQyDFvHo?si=iiiqYt5xHw7uboks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urma:&#10;2TSCPV-2026&#10;Grupo:&#10;RM: 561916 NOME: Arthur Medeiros &#10;RM: 561888 NOME: Mike Rubim&#10;RM: 564418 NOME: Paulo Tudin&#10;RM: 561520 NOME: Pedro Pereira&#10;RM: 554974 NOME: Vinicius Rocha" id="445" name="Google Shape;445;p13" title="Kairos | Video Pitch Challenge 2026 - FIAP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49875" y="1828800"/>
            <a:ext cx="6492250" cy="40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4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GESTÃO DO PROJETO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Evolução das Sprints 1 → 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02920" y="2598821"/>
            <a:ext cx="2590038" cy="22860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1523619" y="2918861"/>
            <a:ext cx="548640" cy="54864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523619" y="2918861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502920" y="355894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502920" y="387898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 &amp; contexto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640080" y="4199021"/>
            <a:ext cx="23157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Definição do desafio, benchmark e contextualização da operação.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3367278" y="2598821"/>
            <a:ext cx="2590038" cy="22860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4387977" y="2918861"/>
            <a:ext cx="548640" cy="54864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387977" y="2918861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3367278" y="355894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3367278" y="387898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Arquitetura &amp; protótipos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3504438" y="4199021"/>
            <a:ext cx="23157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Proposta de solução, arquitetura, telas e tecnologias (este deck herda a base).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6231636" y="2598821"/>
            <a:ext cx="2590038" cy="22860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7252335" y="2918861"/>
            <a:ext cx="548640" cy="54864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7252335" y="2918861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6231636" y="355894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6231636" y="387898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Modelagem preditiva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6368796" y="4199021"/>
            <a:ext cx="23157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Prophet, CatBoost e clusters; achados e engenharia de 30 features.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9095994" y="2598821"/>
            <a:ext cx="2590038" cy="2286000"/>
          </a:xfrm>
          <a:prstGeom prst="rect">
            <a:avLst/>
          </a:prstGeom>
          <a:solidFill>
            <a:srgbClr val="E31C3D"/>
          </a:solidFill>
          <a:ln cap="flat" cmpd="sng" w="19050">
            <a:solidFill>
              <a:srgbClr val="FF313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10116693" y="2918861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10116693" y="2918861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9095994" y="355894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Sprint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9095994" y="3878981"/>
            <a:ext cx="259003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Solução final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9233154" y="4199021"/>
            <a:ext cx="231571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5D5D9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F5D5D9"/>
                </a:solidFill>
                <a:latin typeface="Calibri"/>
                <a:ea typeface="Calibri"/>
                <a:cs typeface="Calibri"/>
                <a:sym typeface="Calibri"/>
              </a:rPr>
              <a:t>Dashboard operacional, pipeline em nuvem, vídeo pitch e entrega técnica.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7 · CONCLUSÃO E PRÓXIMOS PASSOS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Síntese, aprendizados e evolução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502920" y="1828800"/>
            <a:ext cx="3532632" cy="41148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02920" y="1828800"/>
            <a:ext cx="3532632" cy="82296"/>
          </a:xfrm>
          <a:prstGeom prst="rect">
            <a:avLst/>
          </a:prstGeom>
          <a:solidFill>
            <a:srgbClr val="2FBF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777240" y="2121408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green.png" id="493" name="Google Shape;4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2585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/>
          <p:nvPr/>
        </p:nvSpPr>
        <p:spPr>
          <a:xfrm>
            <a:off x="1490472" y="2121408"/>
            <a:ext cx="24353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obtidos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822960" y="3017520"/>
            <a:ext cx="118872" cy="118872"/>
          </a:xfrm>
          <a:prstGeom prst="ellipse">
            <a:avLst/>
          </a:prstGeom>
          <a:solidFill>
            <a:srgbClr val="2FBF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1069848" y="2880360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Previsão de volume D+1/D+7 com −20% de erro vs. baseline.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822960" y="3950208"/>
            <a:ext cx="118872" cy="118872"/>
          </a:xfrm>
          <a:prstGeom prst="ellipse">
            <a:avLst/>
          </a:prstGeom>
          <a:solidFill>
            <a:srgbClr val="2FBF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1069848" y="3813048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Risco de OLA priorizando a fila: 63% das violações revisando 20%.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822960" y="4882896"/>
            <a:ext cx="118872" cy="118872"/>
          </a:xfrm>
          <a:prstGeom prst="ellipse">
            <a:avLst/>
          </a:prstGeom>
          <a:solidFill>
            <a:srgbClr val="2FBF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1069848" y="4745736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11.372 descrições reduzidas a 20 clusters operacionais nomeáveis.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4328160" y="1828800"/>
            <a:ext cx="3532632" cy="41148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4328160" y="1828800"/>
            <a:ext cx="353263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4602480" y="2121408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lightbulb_red.png" id="504" name="Google Shape;5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9640" y="22585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5"/>
          <p:cNvSpPr/>
          <p:nvPr/>
        </p:nvSpPr>
        <p:spPr>
          <a:xfrm>
            <a:off x="5315712" y="2121408"/>
            <a:ext cx="24353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Aprendizados-chave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4648200" y="3017520"/>
            <a:ext cx="118872" cy="1188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4895088" y="2880360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Modelar a série que consome OLA (CV 0,43), não o volume bruto ruidoso.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4648200" y="3950208"/>
            <a:ext cx="118872" cy="1188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4895088" y="3813048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Com poucos dados, modelos com estrutura vencem os mais flexíveis.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4648200" y="4882896"/>
            <a:ext cx="118872" cy="11887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4895088" y="4745736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Honestidade metodológica: declarar limitações reforça o rigor.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8153400" y="1828800"/>
            <a:ext cx="3532632" cy="41148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8153400" y="1828800"/>
            <a:ext cx="3532632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8427720" y="2121408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rocket_red.png" id="515" name="Google Shape;5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4880" y="22585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5"/>
          <p:cNvSpPr/>
          <p:nvPr/>
        </p:nvSpPr>
        <p:spPr>
          <a:xfrm>
            <a:off x="9140952" y="2121408"/>
            <a:ext cx="24353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Próximos passos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8473440" y="3017520"/>
            <a:ext cx="118872" cy="118872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8720328" y="2880360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Consolidar a explicabilidade por SHAP (por incidente e combinação crítica).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8473440" y="3950208"/>
            <a:ext cx="118872" cy="118872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8720328" y="3813048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Validar com a Locaweb a regra de violação de KPI (3.020 casos).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8473440" y="4882896"/>
            <a:ext cx="118872" cy="118872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8720328" y="4745736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lang="en-US" sz="118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Pipeline recorrente em nuvem alimentando o Power BI em produção.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" y="0"/>
            <a:ext cx="121846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Grupo Kairós · Turma 2TSCPV · Challenge Locaweb × FIAP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2026-09-13T18:21:52Z</dcterms:created>
  <dc:creator>Mike Lucio Rubim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1bb91f-85df-4eae-877e-44116f7a1e81_Enabled">
    <vt:lpwstr>true</vt:lpwstr>
  </property>
  <property fmtid="{D5CDD505-2E9C-101B-9397-08002B2CF9AE}" pid="3" name="MSIP_Label_331bb91f-85df-4eae-877e-44116f7a1e81_SetDate">
    <vt:lpwstr>2026-09-13T18:27:32Z</vt:lpwstr>
  </property>
  <property fmtid="{D5CDD505-2E9C-101B-9397-08002B2CF9AE}" pid="4" name="MSIP_Label_331bb91f-85df-4eae-877e-44116f7a1e81_Method">
    <vt:lpwstr>Privileged</vt:lpwstr>
  </property>
  <property fmtid="{D5CDD505-2E9C-101B-9397-08002B2CF9AE}" pid="5" name="MSIP_Label_331bb91f-85df-4eae-877e-44116f7a1e81_Name">
    <vt:lpwstr>Publico</vt:lpwstr>
  </property>
  <property fmtid="{D5CDD505-2E9C-101B-9397-08002B2CF9AE}" pid="6" name="MSIP_Label_331bb91f-85df-4eae-877e-44116f7a1e81_SiteId">
    <vt:lpwstr>a8e87d00-317f-4429-b6f1-ceac0115b7d1</vt:lpwstr>
  </property>
  <property fmtid="{D5CDD505-2E9C-101B-9397-08002B2CF9AE}" pid="7" name="MSIP_Label_331bb91f-85df-4eae-877e-44116f7a1e81_ActionId">
    <vt:lpwstr>bae37b58-aee3-4ef5-ae84-493142f4fb7b</vt:lpwstr>
  </property>
  <property fmtid="{D5CDD505-2E9C-101B-9397-08002B2CF9AE}" pid="8" name="MSIP_Label_331bb91f-85df-4eae-877e-44116f7a1e81_ContentBits">
    <vt:lpwstr>0</vt:lpwstr>
  </property>
  <property fmtid="{D5CDD505-2E9C-101B-9397-08002B2CF9AE}" pid="9" name="MSIP_Label_331bb91f-85df-4eae-877e-44116f7a1e81_Tag">
    <vt:lpwstr>10, 0, 1, 1</vt:lpwstr>
  </property>
</Properties>
</file>