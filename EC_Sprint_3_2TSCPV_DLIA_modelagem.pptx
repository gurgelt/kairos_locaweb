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6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DBFAAA-0565-412A-A452-5E9C385E28BD}" v="2" dt="2026-08-30T13:29:15.8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053" autoAdjust="0"/>
  </p:normalViewPr>
  <p:slideViewPr>
    <p:cSldViewPr snapToGrid="0" snapToObjects="1">
      <p:cViewPr varScale="1">
        <p:scale>
          <a:sx n="48" d="100"/>
          <a:sy n="48" d="100"/>
        </p:scale>
        <p:origin x="53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Pereira Rodrigues" userId="c34dd79e28227933" providerId="LiveId" clId="{19ED1FB5-5682-45C8-B151-0C92DE4344BD}"/>
    <pc:docChg chg="undo custSel addSld delSld modSld">
      <pc:chgData name="Pedro Pereira Rodrigues" userId="c34dd79e28227933" providerId="LiveId" clId="{19ED1FB5-5682-45C8-B151-0C92DE4344BD}" dt="2026-08-30T13:29:25.145" v="4" actId="47"/>
      <pc:docMkLst>
        <pc:docMk/>
      </pc:docMkLst>
      <pc:sldChg chg="modSp">
        <pc:chgData name="Pedro Pereira Rodrigues" userId="c34dd79e28227933" providerId="LiveId" clId="{19ED1FB5-5682-45C8-B151-0C92DE4344BD}" dt="2026-08-30T13:27:57.971" v="0"/>
        <pc:sldMkLst>
          <pc:docMk/>
          <pc:sldMk cId="0" sldId="268"/>
        </pc:sldMkLst>
        <pc:spChg chg="mod">
          <ac:chgData name="Pedro Pereira Rodrigues" userId="c34dd79e28227933" providerId="LiveId" clId="{19ED1FB5-5682-45C8-B151-0C92DE4344BD}" dt="2026-08-30T13:27:57.971" v="0"/>
          <ac:spMkLst>
            <pc:docMk/>
            <pc:sldMk cId="0" sldId="268"/>
            <ac:spMk id="13" creationId="{00000000-0000-0000-0000-000000000000}"/>
          </ac:spMkLst>
        </pc:spChg>
      </pc:sldChg>
      <pc:sldChg chg="addSp delSp del mod">
        <pc:chgData name="Pedro Pereira Rodrigues" userId="c34dd79e28227933" providerId="LiveId" clId="{19ED1FB5-5682-45C8-B151-0C92DE4344BD}" dt="2026-08-30T13:29:25.145" v="4" actId="47"/>
        <pc:sldMkLst>
          <pc:docMk/>
          <pc:sldMk cId="1689977339" sldId="277"/>
        </pc:sldMkLst>
        <pc:spChg chg="add del">
          <ac:chgData name="Pedro Pereira Rodrigues" userId="c34dd79e28227933" providerId="LiveId" clId="{19ED1FB5-5682-45C8-B151-0C92DE4344BD}" dt="2026-08-30T13:29:06.079" v="2" actId="22"/>
          <ac:spMkLst>
            <pc:docMk/>
            <pc:sldMk cId="1689977339" sldId="277"/>
            <ac:spMk id="3" creationId="{63435F5E-3EB6-DEAB-D2B5-58CCD6B749C2}"/>
          </ac:spMkLst>
        </pc:spChg>
      </pc:sldChg>
      <pc:sldChg chg="add">
        <pc:chgData name="Pedro Pereira Rodrigues" userId="c34dd79e28227933" providerId="LiveId" clId="{19ED1FB5-5682-45C8-B151-0C92DE4344BD}" dt="2026-08-30T13:29:15.811" v="3"/>
        <pc:sldMkLst>
          <pc:docMk/>
          <pc:sldMk cId="394454392" sldId="278"/>
        </pc:sldMkLst>
      </pc:sldChg>
    </pc:docChg>
  </pc:docChgLst>
  <pc:docChgLst>
    <pc:chgData name="Pedro Pereira Rodrigues" userId="b2fdfb37-07aa-45a7-b8d8-3fc11307002e" providerId="ADAL" clId="{19ED1FB5-5682-45C8-B151-0C92DE4344BD}"/>
    <pc:docChg chg="modSld">
      <pc:chgData name="Pedro Pereira Rodrigues" userId="b2fdfb37-07aa-45a7-b8d8-3fc11307002e" providerId="ADAL" clId="{19ED1FB5-5682-45C8-B151-0C92DE4344BD}" dt="2026-08-30T11:30:50.096" v="0" actId="6549"/>
      <pc:docMkLst>
        <pc:docMk/>
      </pc:docMkLst>
      <pc:sldChg chg="modNotesTx">
        <pc:chgData name="Pedro Pereira Rodrigues" userId="b2fdfb37-07aa-45a7-b8d8-3fc11307002e" providerId="ADAL" clId="{19ED1FB5-5682-45C8-B151-0C92DE4344BD}" dt="2026-08-30T11:30:50.096" v="0" actId="6549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68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214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322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passos</a:t>
            </a:r>
            <a:r>
              <a:rPr lang="en-US" dirty="0"/>
              <a:t> para Sprint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052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hyperlink" Target="https://colab.research.google.com/drive/199RNe2x7bw63y_a8zs8E3rfaZw7M6U4C?usp=sharing" TargetMode="External"/><Relationship Id="rId4" Type="http://schemas.openxmlformats.org/officeDocument/2006/relationships/hyperlink" Target="https://colab.research.google.com/drive/1gt6bv3u8EMvR1c3U6qz6QSOkekEEkv4L?usp=sharing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lab.research.google.com/drive/199RNe2x7bw63y_a8zs8E3rfaZw7M6U4C?usp=sharing" TargetMode="External"/><Relationship Id="rId5" Type="http://schemas.openxmlformats.org/officeDocument/2006/relationships/hyperlink" Target="https://colab.research.google.com/drive/1gt6bv3u8EMvR1c3U6qz6QSOkekEEkv4L?usp=sharing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95;p10">
            <a:extLst>
              <a:ext uri="{FF2B5EF4-FFF2-40B4-BE49-F238E27FC236}">
                <a16:creationId xmlns:a16="http://schemas.microsoft.com/office/drawing/2014/main" id="{975FC67E-A969-4026-B0F7-6452E0D8D6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EE356277-972A-4C32-B224-AF172B4AEB1F}"/>
              </a:ext>
            </a:extLst>
          </p:cNvPr>
          <p:cNvSpPr txBox="1"/>
          <p:nvPr/>
        </p:nvSpPr>
        <p:spPr>
          <a:xfrm>
            <a:off x="822960" y="548640"/>
            <a:ext cx="648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CHALLENGE LOCAWEB 2026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B5361BD2-3F24-4BE6-AA18-3EEA90C53D5A}"/>
              </a:ext>
            </a:extLst>
          </p:cNvPr>
          <p:cNvSpPr txBox="1"/>
          <p:nvPr/>
        </p:nvSpPr>
        <p:spPr>
          <a:xfrm>
            <a:off x="822960" y="2880360"/>
            <a:ext cx="648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Predição de incidentes — modelagem e experimentação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8B5761FE-635A-4E48-9B9C-57AFAD5D517C}"/>
              </a:ext>
            </a:extLst>
          </p:cNvPr>
          <p:cNvSpPr/>
          <p:nvPr/>
        </p:nvSpPr>
        <p:spPr>
          <a:xfrm>
            <a:off x="822960" y="3451860"/>
            <a:ext cx="5940000" cy="36000"/>
          </a:xfrm>
          <a:prstGeom prst="rect">
            <a:avLst/>
          </a:prstGeom>
          <a:solidFill>
            <a:srgbClr val="D62839"/>
          </a:solidFill>
          <a:ln/>
        </p:spPr>
        <p:txBody>
          <a:bodyPr/>
          <a:lstStyle/>
          <a:p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B63B2F83-44F2-4624-B2D4-E17F7802B8BA}"/>
              </a:ext>
            </a:extLst>
          </p:cNvPr>
          <p:cNvSpPr txBox="1"/>
          <p:nvPr/>
        </p:nvSpPr>
        <p:spPr>
          <a:xfrm>
            <a:off x="822960" y="3726180"/>
            <a:ext cx="648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Sprint 3 - Deep Learning &amp; Inteligência Artificial
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Modelagem, baselines, métricas e reprodutibilidade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1F840163-47B5-4E5B-A61C-DA3F1B15241D}"/>
              </a:ext>
            </a:extLst>
          </p:cNvPr>
          <p:cNvSpPr txBox="1"/>
          <p:nvPr/>
        </p:nvSpPr>
        <p:spPr>
          <a:xfrm>
            <a:off x="822960" y="5760720"/>
            <a:ext cx="648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2TSCPV · Grupo KAIRÓS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BCA51-A912-46D2-B469-70D9CF157A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041" b="35890"/>
          <a:stretch/>
        </p:blipFill>
        <p:spPr>
          <a:xfrm>
            <a:off x="822960" y="1211580"/>
            <a:ext cx="7127240" cy="112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4">
            <a:extLst>
              <a:ext uri="{FF2B5EF4-FFF2-40B4-BE49-F238E27FC236}">
                <a16:creationId xmlns:a16="http://schemas.microsoft.com/office/drawing/2014/main" id="{C3C0CF56-C3B7-46E4-94B8-970DADAB2B81}"/>
              </a:ext>
            </a:extLst>
          </p:cNvPr>
          <p:cNvSpPr/>
          <p:nvPr/>
        </p:nvSpPr>
        <p:spPr>
          <a:xfrm>
            <a:off x="9811667" y="691272"/>
            <a:ext cx="1720089" cy="140400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200CE9C6-7C3A-45ED-8A1C-F7194D894D66}"/>
              </a:ext>
            </a:extLst>
          </p:cNvPr>
          <p:cNvSpPr/>
          <p:nvPr/>
        </p:nvSpPr>
        <p:spPr>
          <a:xfrm>
            <a:off x="9811667" y="3634776"/>
            <a:ext cx="1720089" cy="140400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B6BADC08-2E51-442E-AE7F-80E931EB4F23}"/>
              </a:ext>
            </a:extLst>
          </p:cNvPr>
          <p:cNvSpPr/>
          <p:nvPr/>
        </p:nvSpPr>
        <p:spPr>
          <a:xfrm>
            <a:off x="9811667" y="2163024"/>
            <a:ext cx="1720089" cy="140400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1D21E524-2BD9-43E5-8909-DFE564DDEB5D}"/>
              </a:ext>
            </a:extLst>
          </p:cNvPr>
          <p:cNvSpPr/>
          <p:nvPr/>
        </p:nvSpPr>
        <p:spPr>
          <a:xfrm>
            <a:off x="9811667" y="5106528"/>
            <a:ext cx="1720089" cy="140400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D200B530-C3FB-4886-8E19-6549684833FB}"/>
              </a:ext>
            </a:extLst>
          </p:cNvPr>
          <p:cNvGrpSpPr/>
          <p:nvPr/>
        </p:nvGrpSpPr>
        <p:grpSpPr>
          <a:xfrm>
            <a:off x="9856026" y="5201119"/>
            <a:ext cx="1620000" cy="1113422"/>
            <a:chOff x="9326880" y="3148923"/>
            <a:chExt cx="1620000" cy="1113422"/>
          </a:xfrm>
        </p:grpSpPr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BCB0527C-8AC5-4B9A-9983-7E6328662F2A}"/>
                </a:ext>
              </a:extLst>
            </p:cNvPr>
            <p:cNvSpPr txBox="1"/>
            <p:nvPr/>
          </p:nvSpPr>
          <p:spPr>
            <a:xfrm>
              <a:off x="9326880" y="3148923"/>
              <a:ext cx="1620000" cy="7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8 min</a:t>
              </a:r>
              <a:endParaRPr lang="en-US" sz="4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 14">
              <a:extLst>
                <a:ext uri="{FF2B5EF4-FFF2-40B4-BE49-F238E27FC236}">
                  <a16:creationId xmlns:a16="http://schemas.microsoft.com/office/drawing/2014/main" id="{40F4669B-72F5-4F63-8CBD-0DB7CB664B33}"/>
                </a:ext>
              </a:extLst>
            </p:cNvPr>
            <p:cNvSpPr txBox="1"/>
            <p:nvPr/>
          </p:nvSpPr>
          <p:spPr>
            <a:xfrm>
              <a:off x="9326880" y="3880443"/>
              <a:ext cx="1620000" cy="3819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pt-BR" sz="115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duração mediana</a:t>
              </a:r>
              <a:endParaRPr lang="pt-BR" sz="115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lnSpc>
                  <a:spcPct val="115000"/>
                </a:lnSpc>
                <a:buNone/>
              </a:pPr>
              <a:r>
                <a:rPr lang="pt-BR" sz="115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desses alertas</a:t>
              </a:r>
              <a:endParaRPr lang="pt-BR" sz="1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03285AE-6BEA-4587-8BF4-D08CFB166ABD}"/>
              </a:ext>
            </a:extLst>
          </p:cNvPr>
          <p:cNvGrpSpPr/>
          <p:nvPr/>
        </p:nvGrpSpPr>
        <p:grpSpPr>
          <a:xfrm>
            <a:off x="9870332" y="3627203"/>
            <a:ext cx="1620002" cy="1451520"/>
            <a:chOff x="6857998" y="3148923"/>
            <a:chExt cx="1620002" cy="1451520"/>
          </a:xfrm>
        </p:grpSpPr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C652E021-FAF9-4F2F-951D-DFF05E57FDE8}"/>
                </a:ext>
              </a:extLst>
            </p:cNvPr>
            <p:cNvSpPr txBox="1"/>
            <p:nvPr/>
          </p:nvSpPr>
          <p:spPr>
            <a:xfrm>
              <a:off x="6857998" y="3148923"/>
              <a:ext cx="1620000" cy="7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90,7%</a:t>
              </a:r>
              <a:endParaRPr lang="en-US" sz="4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 12">
              <a:extLst>
                <a:ext uri="{FF2B5EF4-FFF2-40B4-BE49-F238E27FC236}">
                  <a16:creationId xmlns:a16="http://schemas.microsoft.com/office/drawing/2014/main" id="{E8E93414-8565-41A3-B00A-7BBA4F4130B2}"/>
                </a:ext>
              </a:extLst>
            </p:cNvPr>
            <p:cNvSpPr txBox="1"/>
            <p:nvPr/>
          </p:nvSpPr>
          <p:spPr>
            <a:xfrm>
              <a:off x="6858000" y="3880443"/>
              <a:ext cx="1620000" cy="7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pt-BR" sz="115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dos alertas novos fecham sem intervenção humana</a:t>
              </a:r>
              <a:endParaRPr lang="pt-BR" sz="1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E0C28745-DCF3-40B5-B6C6-FECA3DA38794}"/>
              </a:ext>
            </a:extLst>
          </p:cNvPr>
          <p:cNvGrpSpPr/>
          <p:nvPr/>
        </p:nvGrpSpPr>
        <p:grpSpPr>
          <a:xfrm>
            <a:off x="9844453" y="2191155"/>
            <a:ext cx="1620000" cy="1451520"/>
            <a:chOff x="9326880" y="1320123"/>
            <a:chExt cx="1620000" cy="1451520"/>
          </a:xfrm>
        </p:grpSpPr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7BD9608E-CE4F-4DB3-984A-EF7AEA66BC84}"/>
                </a:ext>
              </a:extLst>
            </p:cNvPr>
            <p:cNvSpPr txBox="1"/>
            <p:nvPr/>
          </p:nvSpPr>
          <p:spPr>
            <a:xfrm>
              <a:off x="9326880" y="1320123"/>
              <a:ext cx="1620000" cy="7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2EC4D8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0×</a:t>
              </a:r>
              <a:endParaRPr lang="en-US" sz="4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 10">
              <a:extLst>
                <a:ext uri="{FF2B5EF4-FFF2-40B4-BE49-F238E27FC236}">
                  <a16:creationId xmlns:a16="http://schemas.microsoft.com/office/drawing/2014/main" id="{9533DF8A-3C00-4AF0-946D-BC55AA9F12BD}"/>
                </a:ext>
              </a:extLst>
            </p:cNvPr>
            <p:cNvSpPr txBox="1"/>
            <p:nvPr/>
          </p:nvSpPr>
          <p:spPr>
            <a:xfrm>
              <a:off x="9326880" y="2051643"/>
              <a:ext cx="1620000" cy="7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efeito na série</a:t>
              </a:r>
              <a:endParaRPr lang="en-US" sz="115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que entra no KPI</a:t>
              </a:r>
              <a:endParaRPr lang="en-US" sz="1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18A41446-FFDC-4808-BDFA-4AA05B633C4B}"/>
              </a:ext>
            </a:extLst>
          </p:cNvPr>
          <p:cNvGrpSpPr/>
          <p:nvPr/>
        </p:nvGrpSpPr>
        <p:grpSpPr>
          <a:xfrm>
            <a:off x="9861703" y="650260"/>
            <a:ext cx="1620000" cy="1451520"/>
            <a:chOff x="6858000" y="1320123"/>
            <a:chExt cx="1620000" cy="1451520"/>
          </a:xfrm>
        </p:grpSpPr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01F6C551-B500-4D94-866B-1D44D9ED6689}"/>
                </a:ext>
              </a:extLst>
            </p:cNvPr>
            <p:cNvSpPr txBox="1"/>
            <p:nvPr/>
          </p:nvSpPr>
          <p:spPr>
            <a:xfrm>
              <a:off x="6858000" y="1320123"/>
              <a:ext cx="1620000" cy="7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D62839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7×</a:t>
              </a:r>
              <a:endParaRPr lang="en-US" sz="4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E88504C2-8A38-4A78-BD12-EDF5A60DDF7D}"/>
                </a:ext>
              </a:extLst>
            </p:cNvPr>
            <p:cNvSpPr txBox="1"/>
            <p:nvPr/>
          </p:nvSpPr>
          <p:spPr>
            <a:xfrm>
              <a:off x="6858000" y="2051643"/>
              <a:ext cx="1620000" cy="7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salto no volume total de incidentes</a:t>
              </a:r>
              <a:endParaRPr lang="en-US" sz="115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15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em setembro/2025</a:t>
              </a:r>
              <a:endParaRPr lang="en-US" sz="11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0D01E58C-73F1-4635-B5E4-B60F4446DA9B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100A2F45-F08F-4F7C-950E-A310D380EF8A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2" name="Shape 0"/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" name="Text 1"/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1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Text 2"/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Definição de alvo de modelagem</a:t>
              </a:r>
              <a:endParaRPr lang="pt-BR" sz="3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Text 4"/>
          <p:cNvSpPr txBox="1"/>
          <p:nvPr/>
        </p:nvSpPr>
        <p:spPr>
          <a:xfrm>
            <a:off x="601132" y="1237241"/>
            <a:ext cx="8406366" cy="2271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5000"/>
              </a:lnSpc>
              <a:buNone/>
            </a:pPr>
            <a:r>
              <a:rPr lang="pt-BR" sz="1200" b="1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base tem um salto de 7x no volume de observações em 01/09/2025.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pt-BR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Investigamos a causa antes de treinar qualquer modelo: 90,7% dos alertas novos fecham como “</a:t>
            </a:r>
            <a:r>
              <a:rPr lang="pt-BR" sz="1200" i="1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Sem Intervenção”</a:t>
            </a:r>
            <a:r>
              <a:rPr lang="pt-BR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com duração mediana de 8 minutos, e surgem 3.766 tipos de alerta inexistentes antes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pt-BR" sz="1200" b="1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Diagnóstico: </a:t>
            </a:r>
            <a:r>
              <a:rPr lang="pt-BR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possivelmente</a:t>
            </a:r>
            <a:r>
              <a:rPr lang="pt-BR" sz="1200" b="1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pt-BR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LOCAWEB adotou alguma nova plataforma/camada de monitoramento. Com base nas análises, isso gerou ruídos automáticos nos dados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pt-BR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Como esses alertas não entram no KPI (sem intervenção manual, resolução automática), a série que a Locaweb mede ficou plana basicamente plana o ano de 2025 inteiro. Com isso, desconsideramos esses alertas como alvo para nossa modelagem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B113D4-2D1A-402F-8E6D-1FCEF299B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32" y="3921162"/>
            <a:ext cx="8406366" cy="258936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7357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685800" y="14630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1832" y="1719072"/>
            <a:ext cx="310896" cy="310896"/>
          </a:xfrm>
          <a:prstGeom prst="ellipse">
            <a:avLst/>
          </a:prstGeom>
          <a:solidFill>
            <a:srgbClr val="D62839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371600" y="16824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Nulos NÃO imputados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60120" y="2186603"/>
            <a:ext cx="29718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63% de nulos em Produto e Categoria: esses campos só existem quando há triagem humana.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pt-BR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Imputar pela moda inventaria uma classificação que nunca ocorreu. O nulo vira categoria própria.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99432" y="1719072"/>
            <a:ext cx="310896" cy="310896"/>
          </a:xfrm>
          <a:prstGeom prst="ellipse">
            <a:avLst/>
          </a:prstGeom>
          <a:solidFill>
            <a:srgbClr val="2EC4D8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029200" y="16824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Consistência validada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617720" y="2186603"/>
            <a:ext cx="29718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 datas invertidas, 0 durações negativas, 0 prioridades fora do domínio.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regra de formação de Duração foi confirmada contra as datas em 100% dos casos.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01000" y="14630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57032" y="1719072"/>
            <a:ext cx="310896" cy="310896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686800" y="16824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Outliers preservados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75320" y="2186603"/>
            <a:ext cx="29718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regra do IQR marcaria 18% da base — sinal de distribuição assimétrica, não de erro.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Um chamado de 300 dias é justamente o que viola OLA: remover apagaria o alvo.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93928" y="4306824"/>
            <a:ext cx="10835640" cy="2112264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60120" y="44897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Codificação e normalização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60120" y="4917274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Categóricas de alta cardinalidade (9.171 ativos, 447 subcategorias): tratadas nativamente pelo CatBoost, sem one-hot — que criaria uma matriz impraticável.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Padronização (StandardScaler) ajustada apenas no treino — aplicar no dataset completo vazaria média e desvio do teste.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Sazonalidade cíclica: dia da semana codificado em seno/cosseno, porque domingo (6) e segunda (0) são vizinhos, não opostos.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9FD0349B-F2CE-434E-AD26-D2C44B7DE47D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0DD5F775-1908-43F3-B8B2-CE8241903214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34" name="Shape 0">
                <a:extLst>
                  <a:ext uri="{FF2B5EF4-FFF2-40B4-BE49-F238E27FC236}">
                    <a16:creationId xmlns:a16="http://schemas.microsoft.com/office/drawing/2014/main" id="{033E924A-B022-4B69-9029-0250E8846404}"/>
                  </a:ext>
                </a:extLst>
              </p:cNvPr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Text 1">
                <a:extLst>
                  <a:ext uri="{FF2B5EF4-FFF2-40B4-BE49-F238E27FC236}">
                    <a16:creationId xmlns:a16="http://schemas.microsoft.com/office/drawing/2014/main" id="{2A559A5D-D48A-41B5-BC78-E0A4E5E91515}"/>
                  </a:ext>
                </a:extLst>
              </p:cNvPr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2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Text 2">
              <a:extLst>
                <a:ext uri="{FF2B5EF4-FFF2-40B4-BE49-F238E27FC236}">
                  <a16:creationId xmlns:a16="http://schemas.microsoft.com/office/drawing/2014/main" id="{8F4DD456-A662-47AF-9582-A9909E04269B}"/>
                </a:ext>
              </a:extLst>
            </p:cNvPr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Preparação dos dados</a:t>
              </a:r>
              <a:endParaRPr lang="pt-BR" sz="3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685800" y="14173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1618488"/>
            <a:ext cx="256032" cy="256032"/>
          </a:xfrm>
          <a:prstGeom prst="ellipse">
            <a:avLst/>
          </a:prstGeom>
          <a:solidFill>
            <a:srgbClr val="D62839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252728" y="157276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 b="1">
                <a:solidFill>
                  <a:srgbClr val="0E1A2B"/>
                </a:solidFill>
                <a:latin typeface="Arial"/>
              </a:rPr>
              <a:t>Autorregressivas (a própria série)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32688" y="19019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sz="900" b="1" i="0">
                <a:solidFill>
                  <a:srgbClr val="5A6472"/>
                </a:solidFill>
                <a:latin typeface="Arial"/>
              </a:rPr>
              <a:t>Variáveis criadas: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sz="900" b="0" i="1">
                <a:solidFill>
                  <a:srgbClr val="5A6472"/>
                </a:solidFill>
                <a:latin typeface="Arial"/>
              </a:rPr>
              <a:t>lag_1,2,3,7,14,30 · médias e desvios móveis 7/14/30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932688" y="2267712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000" b="0" dirty="0">
                <a:solidFill>
                  <a:srgbClr val="1B2430"/>
                </a:solidFill>
                <a:latin typeface="Arial"/>
              </a:rPr>
              <a:t>lag_7 = </a:t>
            </a:r>
            <a:r>
              <a:rPr sz="1000" b="0" dirty="0" err="1">
                <a:solidFill>
                  <a:srgbClr val="1B2430"/>
                </a:solidFill>
                <a:latin typeface="Arial"/>
              </a:rPr>
              <a:t>quantos</a:t>
            </a:r>
            <a:r>
              <a:rPr sz="1000" b="0" dirty="0">
                <a:solidFill>
                  <a:srgbClr val="1B2430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Arial"/>
              </a:rPr>
              <a:t>chamados</a:t>
            </a:r>
            <a:r>
              <a:rPr sz="1000" b="0" dirty="0">
                <a:solidFill>
                  <a:srgbClr val="1B2430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Arial"/>
              </a:rPr>
              <a:t>houve</a:t>
            </a:r>
            <a:r>
              <a:rPr sz="1000" b="0" dirty="0">
                <a:solidFill>
                  <a:srgbClr val="1B2430"/>
                </a:solidFill>
                <a:latin typeface="Arial"/>
              </a:rPr>
              <a:t> 7 </a:t>
            </a:r>
            <a:r>
              <a:rPr sz="1000" b="0" dirty="0" err="1">
                <a:solidFill>
                  <a:srgbClr val="1B2430"/>
                </a:solidFill>
                <a:latin typeface="Arial"/>
              </a:rPr>
              <a:t>dias</a:t>
            </a:r>
            <a:r>
              <a:rPr sz="1000" b="0" dirty="0">
                <a:solidFill>
                  <a:srgbClr val="1B2430"/>
                </a:solidFill>
                <a:latin typeface="Arial"/>
              </a:rPr>
              <a:t> atrás.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sz="1000" b="0" dirty="0" err="1">
                <a:solidFill>
                  <a:srgbClr val="1B2430"/>
                </a:solidFill>
                <a:latin typeface="Arial"/>
              </a:rPr>
              <a:t>Capturam</a:t>
            </a:r>
            <a:r>
              <a:rPr sz="1000" b="0" dirty="0">
                <a:solidFill>
                  <a:srgbClr val="1B2430"/>
                </a:solidFill>
                <a:latin typeface="Arial"/>
              </a:rPr>
              <a:t> a </a:t>
            </a:r>
            <a:r>
              <a:rPr sz="1000" b="0" dirty="0" err="1">
                <a:solidFill>
                  <a:srgbClr val="1B2430"/>
                </a:solidFill>
                <a:latin typeface="Arial"/>
              </a:rPr>
              <a:t>inércia</a:t>
            </a:r>
            <a:r>
              <a:rPr sz="1000" b="0" dirty="0">
                <a:solidFill>
                  <a:srgbClr val="1B2430"/>
                </a:solidFill>
                <a:latin typeface="Arial"/>
              </a:rPr>
              <a:t> e o </a:t>
            </a:r>
            <a:r>
              <a:rPr sz="1000" b="0" dirty="0" err="1">
                <a:solidFill>
                  <a:srgbClr val="1B2430"/>
                </a:solidFill>
                <a:latin typeface="Arial"/>
              </a:rPr>
              <a:t>ciclo</a:t>
            </a:r>
            <a:r>
              <a:rPr sz="1000" b="0" dirty="0">
                <a:solidFill>
                  <a:srgbClr val="1B2430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Arial"/>
              </a:rPr>
              <a:t>semanal</a:t>
            </a:r>
            <a:r>
              <a:rPr sz="1000" b="0" dirty="0">
                <a:solidFill>
                  <a:srgbClr val="1B2430"/>
                </a:solidFill>
                <a:latin typeface="Arial"/>
              </a:rPr>
              <a:t> visto </a:t>
            </a:r>
            <a:r>
              <a:rPr sz="1000" b="0" dirty="0" err="1">
                <a:solidFill>
                  <a:srgbClr val="1B2430"/>
                </a:solidFill>
                <a:latin typeface="Arial"/>
              </a:rPr>
              <a:t>na</a:t>
            </a:r>
            <a:r>
              <a:rPr sz="1000" b="0" dirty="0">
                <a:solidFill>
                  <a:srgbClr val="1B2430"/>
                </a:solidFill>
                <a:latin typeface="Arial"/>
              </a:rPr>
              <a:t> ACF (</a:t>
            </a:r>
            <a:r>
              <a:rPr lang="pt-BR" sz="1000" b="0" dirty="0">
                <a:solidFill>
                  <a:srgbClr val="1B2430"/>
                </a:solidFill>
                <a:latin typeface="Arial"/>
              </a:rPr>
              <a:t>Função de </a:t>
            </a:r>
            <a:r>
              <a:rPr sz="1000" dirty="0" err="1">
                <a:solidFill>
                  <a:srgbClr val="1B2430"/>
                </a:solidFill>
                <a:latin typeface="Arial"/>
              </a:rPr>
              <a:t>autocorrelação</a:t>
            </a:r>
            <a:r>
              <a:rPr sz="1000" b="0" dirty="0">
                <a:solidFill>
                  <a:srgbClr val="1B2430"/>
                </a:solidFill>
                <a:latin typeface="Arial"/>
              </a:rPr>
              <a:t>).</a:t>
            </a:r>
          </a:p>
          <a:p>
            <a:pPr>
              <a:buNone/>
            </a:pPr>
            <a:r>
              <a:rPr sz="1000" b="1" dirty="0" err="1">
                <a:solidFill>
                  <a:srgbClr val="1B2430"/>
                </a:solidFill>
                <a:latin typeface="Arial"/>
              </a:rPr>
              <a:t>Limitação</a:t>
            </a:r>
            <a:r>
              <a:rPr sz="1000" b="1" dirty="0">
                <a:solidFill>
                  <a:srgbClr val="1B2430"/>
                </a:solidFill>
                <a:latin typeface="Arial"/>
              </a:rPr>
              <a:t>: </a:t>
            </a:r>
            <a:r>
              <a:rPr sz="1000" b="1" dirty="0" err="1">
                <a:solidFill>
                  <a:srgbClr val="1B2430"/>
                </a:solidFill>
                <a:latin typeface="Arial"/>
              </a:rPr>
              <a:t>não</a:t>
            </a:r>
            <a:r>
              <a:rPr sz="1000" b="1" dirty="0">
                <a:solidFill>
                  <a:srgbClr val="1B2430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B2430"/>
                </a:solidFill>
                <a:latin typeface="Arial"/>
              </a:rPr>
              <a:t>antecipam</a:t>
            </a:r>
            <a:r>
              <a:rPr sz="1000" b="1" dirty="0">
                <a:solidFill>
                  <a:srgbClr val="1B2430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B2430"/>
                </a:solidFill>
                <a:latin typeface="Arial"/>
              </a:rPr>
              <a:t>rupturas</a:t>
            </a:r>
            <a:r>
              <a:rPr sz="1000" b="1" dirty="0">
                <a:solidFill>
                  <a:srgbClr val="1B2430"/>
                </a:solidFill>
                <a:latin typeface="Arial"/>
              </a:rPr>
              <a:t> e </a:t>
            </a:r>
            <a:r>
              <a:rPr sz="1000" b="1" dirty="0" err="1">
                <a:solidFill>
                  <a:srgbClr val="1B2430"/>
                </a:solidFill>
                <a:latin typeface="Arial"/>
              </a:rPr>
              <a:t>custam</a:t>
            </a:r>
            <a:r>
              <a:rPr sz="1000" b="1" dirty="0">
                <a:solidFill>
                  <a:srgbClr val="1B2430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B2430"/>
                </a:solidFill>
                <a:latin typeface="Arial"/>
              </a:rPr>
              <a:t>os</a:t>
            </a:r>
            <a:r>
              <a:rPr sz="1000" b="1" dirty="0">
                <a:solidFill>
                  <a:srgbClr val="1B2430"/>
                </a:solidFill>
                <a:latin typeface="Arial"/>
              </a:rPr>
              <a:t> 30 </a:t>
            </a:r>
            <a:r>
              <a:rPr sz="1000" b="1" dirty="0" err="1">
                <a:solidFill>
                  <a:srgbClr val="1B2430"/>
                </a:solidFill>
                <a:latin typeface="Arial"/>
              </a:rPr>
              <a:t>primeiros</a:t>
            </a:r>
            <a:r>
              <a:rPr sz="1000" b="1" dirty="0">
                <a:solidFill>
                  <a:srgbClr val="1B2430"/>
                </a:solidFill>
                <a:latin typeface="Arial"/>
              </a:rPr>
              <a:t> </a:t>
            </a:r>
            <a:r>
              <a:rPr sz="1000" b="1" dirty="0" err="1">
                <a:solidFill>
                  <a:srgbClr val="1B2430"/>
                </a:solidFill>
                <a:latin typeface="Arial"/>
              </a:rPr>
              <a:t>dias</a:t>
            </a:r>
            <a:r>
              <a:rPr sz="1000" b="1" dirty="0">
                <a:solidFill>
                  <a:srgbClr val="1B2430"/>
                </a:solidFill>
                <a:latin typeface="Arial"/>
              </a:rPr>
              <a:t>.</a:t>
            </a:r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17720" y="1618488"/>
            <a:ext cx="256032" cy="256032"/>
          </a:xfrm>
          <a:prstGeom prst="ellipse">
            <a:avLst/>
          </a:prstGeom>
          <a:solidFill>
            <a:srgbClr val="2EC4D8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956048" y="157276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 b="1">
                <a:solidFill>
                  <a:srgbClr val="0E1A2B"/>
                </a:solidFill>
                <a:latin typeface="Arial"/>
              </a:rPr>
              <a:t>Dinâmica (aceleração)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636008" y="19019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sz="900" b="1" i="0">
                <a:solidFill>
                  <a:srgbClr val="5A6472"/>
                </a:solidFill>
                <a:latin typeface="Arial"/>
              </a:rPr>
              <a:t>Variáveis criadas: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sz="900" b="0" i="1">
                <a:solidFill>
                  <a:srgbClr val="5A6472"/>
                </a:solidFill>
                <a:latin typeface="Arial"/>
              </a:rPr>
              <a:t>tendencia_7_30 · crescimento_7_30 · variacao_diaria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4617720" y="2267712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000" b="0">
                <a:solidFill>
                  <a:srgbClr val="1B2430"/>
                </a:solidFill>
                <a:latin typeface="Arial"/>
              </a:rPr>
              <a:t>tendencia_7_30 = média de 7 dias menos a de 30.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sz="1000" b="0">
                <a:solidFill>
                  <a:srgbClr val="1B2430"/>
                </a:solidFill>
                <a:latin typeface="Arial"/>
              </a:rPr>
              <a:t>Marcam mudança de patamar antes do nível absoluto mudar.</a:t>
            </a:r>
          </a:p>
          <a:p>
            <a:pPr>
              <a:buNone/>
            </a:pPr>
            <a:r>
              <a:rPr sz="1000" b="1">
                <a:solidFill>
                  <a:srgbClr val="1B2430"/>
                </a:solidFill>
                <a:latin typeface="Arial"/>
              </a:rPr>
              <a:t>Limitação: amplificam ruído em base curta.</a:t>
            </a:r>
          </a:p>
        </p:txBody>
      </p:sp>
      <p:sp>
        <p:nvSpPr>
          <p:cNvPr id="16" name="Shape 14"/>
          <p:cNvSpPr/>
          <p:nvPr/>
        </p:nvSpPr>
        <p:spPr>
          <a:xfrm>
            <a:off x="8092440" y="14173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21040" y="1618488"/>
            <a:ext cx="256032" cy="256032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659368" y="157276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 b="1">
                <a:solidFill>
                  <a:srgbClr val="0E1A2B"/>
                </a:solidFill>
                <a:latin typeface="Arial"/>
              </a:rPr>
              <a:t>Calendário (o que a data já diz)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8339328" y="19019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sz="900" b="1" i="0">
                <a:solidFill>
                  <a:srgbClr val="5A6472"/>
                </a:solidFill>
                <a:latin typeface="Arial"/>
              </a:rPr>
              <a:t>Variáveis criadas: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sz="900" b="0" i="1">
                <a:solidFill>
                  <a:srgbClr val="5A6472"/>
                </a:solidFill>
                <a:latin typeface="Arial"/>
              </a:rPr>
              <a:t>dia da semana · mês · feriado · seno/cosseno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8339328" y="2267712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000" b="0">
                <a:solidFill>
                  <a:srgbClr val="1B2430"/>
                </a:solidFill>
                <a:latin typeface="Arial"/>
              </a:rPr>
              <a:t>Seno/cosseno põem os dias num círculo: domingo é vizinho de segunda, não oposto.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sz="1000" b="0">
                <a:solidFill>
                  <a:srgbClr val="1B2430"/>
                </a:solidFill>
                <a:latin typeface="Arial"/>
              </a:rPr>
              <a:t>Únicas que existem para datas futuras — nunca vazam.</a:t>
            </a:r>
          </a:p>
          <a:p>
            <a:pPr>
              <a:buNone/>
            </a:pPr>
            <a:r>
              <a:rPr sz="1000" b="1">
                <a:solidFill>
                  <a:srgbClr val="1B2430"/>
                </a:solidFill>
                <a:latin typeface="Arial"/>
              </a:rPr>
              <a:t>Limitação: não pegam eventos não programados.</a:t>
            </a:r>
          </a:p>
        </p:txBody>
      </p:sp>
      <p:sp>
        <p:nvSpPr>
          <p:cNvPr id="21" name="Shape 19"/>
          <p:cNvSpPr/>
          <p:nvPr/>
        </p:nvSpPr>
        <p:spPr>
          <a:xfrm>
            <a:off x="685800" y="37947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14400" y="3995928"/>
            <a:ext cx="256032" cy="256032"/>
          </a:xfrm>
          <a:prstGeom prst="ellipse">
            <a:avLst/>
          </a:prstGeom>
          <a:solidFill>
            <a:srgbClr val="6C7A89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252728" y="39502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0E1A2B"/>
                </a:solidFill>
                <a:latin typeface="Arial"/>
              </a:rPr>
              <a:t>Composição — prioridade (o que os chamados eram)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932688" y="4279392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900" b="1" i="0">
                <a:solidFill>
                  <a:srgbClr val="5A6472"/>
                </a:solidFill>
                <a:latin typeface="Arial"/>
              </a:rPr>
              <a:t>Variáveis criadas: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sz="900" b="0" i="1">
                <a:solidFill>
                  <a:srgbClr val="5A6472"/>
                </a:solidFill>
                <a:latin typeface="Arial"/>
              </a:rPr>
              <a:t>pct_p2 · pct_reincidente · pct_manual · backlog</a:t>
            </a:r>
          </a:p>
        </p:txBody>
      </p:sp>
      <p:sp>
        <p:nvSpPr>
          <p:cNvPr id="25" name="Text 23"/>
          <p:cNvSpPr txBox="1"/>
          <p:nvPr/>
        </p:nvSpPr>
        <p:spPr>
          <a:xfrm>
            <a:off x="932688" y="4645152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000" b="0">
                <a:solidFill>
                  <a:srgbClr val="1B2430"/>
                </a:solidFill>
                <a:latin typeface="Arial"/>
              </a:rPr>
              <a:t>pct_p2 = fatia de P2 no dia.  ·  backlog = abertos menos fechados, acumulado.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sz="1000" b="0">
                <a:solidFill>
                  <a:srgbClr val="1B2430"/>
                </a:solidFill>
                <a:latin typeface="Arial"/>
              </a:rPr>
              <a:t>Dois dias com 60 chamados são diferentes se um teve 5% de P2 e o outro 40%.</a:t>
            </a:r>
          </a:p>
          <a:p>
            <a:pPr>
              <a:buNone/>
            </a:pPr>
            <a:r>
              <a:rPr sz="1000" b="1">
                <a:solidFill>
                  <a:srgbClr val="1B2430"/>
                </a:solidFill>
                <a:latin typeface="Arial"/>
              </a:rPr>
              <a:t>Limitação: só ficam disponíveis com um dia de defasagem.</a:t>
            </a:r>
          </a:p>
        </p:txBody>
      </p:sp>
      <p:sp>
        <p:nvSpPr>
          <p:cNvPr id="26" name="Shape 24"/>
          <p:cNvSpPr/>
          <p:nvPr/>
        </p:nvSpPr>
        <p:spPr>
          <a:xfrm>
            <a:off x="6263640" y="37947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92240" y="3995928"/>
            <a:ext cx="256032" cy="256032"/>
          </a:xfrm>
          <a:prstGeom prst="ellipse">
            <a:avLst/>
          </a:prstGeom>
          <a:solidFill>
            <a:srgbClr val="8A6BD1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830568" y="39502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0E1A2B"/>
                </a:solidFill>
                <a:latin typeface="Arial"/>
              </a:rPr>
              <a:t>Composição — categoria e produto (concentração)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510528" y="4279392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900" b="1" i="0">
                <a:solidFill>
                  <a:srgbClr val="5A6472"/>
                </a:solidFill>
                <a:latin typeface="Arial"/>
              </a:rPr>
              <a:t>Variáveis criadas: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sz="900" b="0" i="1">
                <a:solidFill>
                  <a:srgbClr val="5A6472"/>
                </a:solidFill>
                <a:latin typeface="Arial"/>
              </a:rPr>
              <a:t>hhi_categoria · hhi_produto · n_categorias</a:t>
            </a:r>
          </a:p>
        </p:txBody>
      </p:sp>
      <p:sp>
        <p:nvSpPr>
          <p:cNvPr id="30" name="Text 28"/>
          <p:cNvSpPr txBox="1"/>
          <p:nvPr/>
        </p:nvSpPr>
        <p:spPr>
          <a:xfrm>
            <a:off x="6510528" y="4645152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000" b="0">
                <a:solidFill>
                  <a:srgbClr val="1B2430"/>
                </a:solidFill>
                <a:latin typeface="Arial"/>
              </a:rPr>
              <a:t>HHI = soma dos quadrados das proporções. Perto de 1, o dia foi um problema só.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sz="1000" b="0">
                <a:solidFill>
                  <a:srgbClr val="1B2430"/>
                </a:solidFill>
                <a:latin typeface="Arial"/>
              </a:rPr>
              <a:t>Calculado dentro do dia: usar a categoria mais frequente do ano olharia o futuro.</a:t>
            </a:r>
          </a:p>
          <a:p>
            <a:pPr>
              <a:buNone/>
            </a:pPr>
            <a:r>
              <a:rPr sz="1000" b="1">
                <a:solidFill>
                  <a:srgbClr val="1B2430"/>
                </a:solidFill>
                <a:latin typeface="Arial"/>
              </a:rPr>
              <a:t>Limitação: dizem o quanto concentrou, não qual categoria dominou.</a:t>
            </a:r>
          </a:p>
        </p:txBody>
      </p:sp>
      <p:sp>
        <p:nvSpPr>
          <p:cNvPr id="31" name="Text 29"/>
          <p:cNvSpPr txBox="1"/>
          <p:nvPr/>
        </p:nvSpPr>
        <p:spPr>
          <a:xfrm>
            <a:off x="685800" y="614476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 b="1">
                <a:solidFill>
                  <a:srgbClr val="D62839"/>
                </a:solidFill>
                <a:latin typeface="Arial"/>
              </a:rPr>
              <a:t>Regra que vale para todas: nenhuma variável do dia t pode usar informação posterior a t.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050" b="0">
                <a:solidFill>
                  <a:srgbClr val="D62839"/>
                </a:solidFill>
                <a:latin typeface="Arial"/>
              </a:rPr>
              <a:t>O alvo é o volume de t+1, e toda janela móvel leva shift(1) — a média de 7 dias termina em t-1. Sem isso o modelo espia a resposta.</a:t>
            </a:r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6AB94420-1004-4E51-BBE6-1F75894E2F7B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5FB9F7FC-2DE9-4856-8D28-C2B0D9A7E308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35" name="Shape 0">
                <a:extLst>
                  <a:ext uri="{FF2B5EF4-FFF2-40B4-BE49-F238E27FC236}">
                    <a16:creationId xmlns:a16="http://schemas.microsoft.com/office/drawing/2014/main" id="{27078E39-2FF9-43B0-A5C8-B6E563B0DDAF}"/>
                  </a:ext>
                </a:extLst>
              </p:cNvPr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 1">
                <a:extLst>
                  <a:ext uri="{FF2B5EF4-FFF2-40B4-BE49-F238E27FC236}">
                    <a16:creationId xmlns:a16="http://schemas.microsoft.com/office/drawing/2014/main" id="{680960D2-C0E8-4768-BB69-5C014E0CB9FC}"/>
                  </a:ext>
                </a:extLst>
              </p:cNvPr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3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4" name="Text 2">
              <a:extLst>
                <a:ext uri="{FF2B5EF4-FFF2-40B4-BE49-F238E27FC236}">
                  <a16:creationId xmlns:a16="http://schemas.microsoft.com/office/drawing/2014/main" id="{FF917D1A-3AE1-45B8-8A31-13F208AEC383}"/>
                </a:ext>
              </a:extLst>
            </p:cNvPr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Engenharia de Features</a:t>
              </a:r>
              <a:endParaRPr lang="pt-BR" sz="3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 txBox="1"/>
          <p:nvPr/>
        </p:nvSpPr>
        <p:spPr>
          <a:xfrm>
            <a:off x="822960" y="1325880"/>
            <a:ext cx="9747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Por que utilizer baseline sazonal e não a média histórica</a:t>
            </a:r>
            <a:endParaRPr lang="pt-BR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1737360"/>
            <a:ext cx="95280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 noProof="1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Utilizamos um baseline sazonal, repetindo o valor do mesmo dia da semana anterior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 noProof="1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série tem sazonalidade semanal forte — fim de semana cai ~35%. Uma média histórica ignoraria isso e seria fácil demais de bater.</a:t>
            </a:r>
            <a:endParaRPr lang="pt-BR" sz="12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 noProof="1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baseline sazonal já embute o padrão mais forte da série, então superá-la significa que o modelo aprendeu algo além do óbvio.</a:t>
            </a:r>
            <a:endParaRPr lang="pt-BR" sz="1200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200" noProof="1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É uma referência mais honesta, pois um teste que qualquer modelo passa não é medido nada.</a:t>
            </a:r>
            <a:endParaRPr lang="pt-BR" sz="120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840E07C0-4095-491C-B6A4-8C126DB3193E}"/>
              </a:ext>
            </a:extLst>
          </p:cNvPr>
          <p:cNvGrpSpPr/>
          <p:nvPr/>
        </p:nvGrpSpPr>
        <p:grpSpPr>
          <a:xfrm>
            <a:off x="1296000" y="3533760"/>
            <a:ext cx="9660960" cy="1404000"/>
            <a:chOff x="1197864" y="3533760"/>
            <a:chExt cx="9660960" cy="1404000"/>
          </a:xfrm>
        </p:grpSpPr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DADE86B2-FFF8-49B6-AD92-57090EB5E573}"/>
                </a:ext>
              </a:extLst>
            </p:cNvPr>
            <p:cNvSpPr/>
            <p:nvPr/>
          </p:nvSpPr>
          <p:spPr>
            <a:xfrm>
              <a:off x="9008779" y="3533760"/>
              <a:ext cx="1720089" cy="1404000"/>
            </a:xfrm>
            <a:prstGeom prst="roundRect">
              <a:avLst>
                <a:gd name="adj" fmla="val 3137"/>
              </a:avLst>
            </a:prstGeom>
            <a:solidFill>
              <a:srgbClr val="F4F6F8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0DEF29B2-54C5-467F-888B-081BFFFAB5CD}"/>
                </a:ext>
              </a:extLst>
            </p:cNvPr>
            <p:cNvSpPr/>
            <p:nvPr/>
          </p:nvSpPr>
          <p:spPr>
            <a:xfrm>
              <a:off x="6448459" y="3533760"/>
              <a:ext cx="1720089" cy="1404000"/>
            </a:xfrm>
            <a:prstGeom prst="roundRect">
              <a:avLst>
                <a:gd name="adj" fmla="val 3137"/>
              </a:avLst>
            </a:prstGeom>
            <a:solidFill>
              <a:srgbClr val="F4F6F8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32" name="Shape 4">
              <a:extLst>
                <a:ext uri="{FF2B5EF4-FFF2-40B4-BE49-F238E27FC236}">
                  <a16:creationId xmlns:a16="http://schemas.microsoft.com/office/drawing/2014/main" id="{D3823C1B-7D3A-4D3D-813B-0CDA07F6C34D}"/>
                </a:ext>
              </a:extLst>
            </p:cNvPr>
            <p:cNvSpPr/>
            <p:nvPr/>
          </p:nvSpPr>
          <p:spPr>
            <a:xfrm>
              <a:off x="3888139" y="3533760"/>
              <a:ext cx="1720089" cy="1404000"/>
            </a:xfrm>
            <a:prstGeom prst="roundRect">
              <a:avLst>
                <a:gd name="adj" fmla="val 3137"/>
              </a:avLst>
            </a:prstGeom>
            <a:solidFill>
              <a:srgbClr val="F4F6F8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9" name="Shape 4">
              <a:extLst>
                <a:ext uri="{FF2B5EF4-FFF2-40B4-BE49-F238E27FC236}">
                  <a16:creationId xmlns:a16="http://schemas.microsoft.com/office/drawing/2014/main" id="{6F93BA96-9DA8-4122-8222-6E5F85391BF1}"/>
                </a:ext>
              </a:extLst>
            </p:cNvPr>
            <p:cNvSpPr/>
            <p:nvPr/>
          </p:nvSpPr>
          <p:spPr>
            <a:xfrm>
              <a:off x="1336963" y="3533760"/>
              <a:ext cx="1720089" cy="1404000"/>
            </a:xfrm>
            <a:prstGeom prst="roundRect">
              <a:avLst>
                <a:gd name="adj" fmla="val 3137"/>
              </a:avLst>
            </a:prstGeom>
            <a:solidFill>
              <a:srgbClr val="F4F6F8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9EE3114D-D580-4856-97BA-8BD45A5EC84F}"/>
                </a:ext>
              </a:extLst>
            </p:cNvPr>
            <p:cNvGrpSpPr/>
            <p:nvPr/>
          </p:nvGrpSpPr>
          <p:grpSpPr>
            <a:xfrm>
              <a:off x="1197864" y="3611880"/>
              <a:ext cx="1980000" cy="1280160"/>
              <a:chOff x="822960" y="4160520"/>
              <a:chExt cx="1980000" cy="1280160"/>
            </a:xfrm>
          </p:grpSpPr>
          <p:sp>
            <p:nvSpPr>
              <p:cNvPr id="10" name="Text 8"/>
              <p:cNvSpPr txBox="1"/>
              <p:nvPr/>
            </p:nvSpPr>
            <p:spPr>
              <a:xfrm>
                <a:off x="822960" y="4160520"/>
                <a:ext cx="1980000" cy="7132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4000" b="1" dirty="0">
                    <a:solidFill>
                      <a:srgbClr val="5A6472"/>
                    </a:solidFill>
                    <a:latin typeface="Arial" panose="020B0604020202020204" pitchFamily="34" charset="0"/>
                    <a:ea typeface="Cambria" pitchFamily="34" charset="-122"/>
                    <a:cs typeface="Arial" panose="020B0604020202020204" pitchFamily="34" charset="0"/>
                  </a:rPr>
                  <a:t>15.5</a:t>
                </a:r>
                <a:endParaRPr lang="en-US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Text 9"/>
              <p:cNvSpPr txBox="1"/>
              <p:nvPr/>
            </p:nvSpPr>
            <p:spPr>
              <a:xfrm>
                <a:off x="822960" y="4892040"/>
                <a:ext cx="198000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115000"/>
                  </a:lnSpc>
                  <a:buNone/>
                </a:pPr>
                <a:r>
                  <a:rPr lang="en-US" sz="1150" dirty="0">
                    <a:solidFill>
                      <a:srgbClr val="5A6472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MAE da baseline</a:t>
                </a:r>
                <a:endParaRPr lang="en-US" sz="1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15000"/>
                  </a:lnSpc>
                  <a:buNone/>
                </a:pPr>
                <a:r>
                  <a:rPr lang="en-US" sz="1150" dirty="0">
                    <a:solidFill>
                      <a:srgbClr val="5A6472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(incidentes/dia)</a:t>
                </a:r>
                <a:endParaRPr lang="en-US" sz="1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ADB57EB7-1D6D-4403-B225-0FFE3AE6E658}"/>
                </a:ext>
              </a:extLst>
            </p:cNvPr>
            <p:cNvGrpSpPr/>
            <p:nvPr/>
          </p:nvGrpSpPr>
          <p:grpSpPr>
            <a:xfrm>
              <a:off x="3758184" y="3611880"/>
              <a:ext cx="1980000" cy="1280160"/>
              <a:chOff x="3383280" y="4160520"/>
              <a:chExt cx="1980000" cy="1280160"/>
            </a:xfrm>
          </p:grpSpPr>
          <p:sp>
            <p:nvSpPr>
              <p:cNvPr id="12" name="Text 10"/>
              <p:cNvSpPr txBox="1"/>
              <p:nvPr/>
            </p:nvSpPr>
            <p:spPr>
              <a:xfrm>
                <a:off x="3383280" y="4160520"/>
                <a:ext cx="1980000" cy="7132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4000" b="1" dirty="0">
                    <a:solidFill>
                      <a:srgbClr val="0E1A2B"/>
                    </a:solidFill>
                    <a:latin typeface="Arial" panose="020B0604020202020204" pitchFamily="34" charset="0"/>
                    <a:ea typeface="Cambria" pitchFamily="34" charset="-122"/>
                    <a:cs typeface="Arial" panose="020B0604020202020204" pitchFamily="34" charset="0"/>
                  </a:rPr>
                  <a:t>13.5</a:t>
                </a:r>
                <a:endParaRPr lang="en-US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Text 11"/>
              <p:cNvSpPr txBox="1"/>
              <p:nvPr/>
            </p:nvSpPr>
            <p:spPr>
              <a:xfrm>
                <a:off x="3383280" y="4892040"/>
                <a:ext cx="198000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115000"/>
                  </a:lnSpc>
                  <a:buNone/>
                </a:pPr>
                <a:r>
                  <a:rPr lang="en-US" sz="1150" dirty="0">
                    <a:solidFill>
                      <a:srgbClr val="5A6472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MAE do Prophet</a:t>
                </a:r>
                <a:endParaRPr lang="en-US" sz="1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15000"/>
                  </a:lnSpc>
                  <a:buNone/>
                </a:pPr>
                <a:r>
                  <a:rPr lang="en-US" sz="1150" dirty="0">
                    <a:solidFill>
                      <a:srgbClr val="5A6472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no horizonte D+1</a:t>
                </a:r>
                <a:endParaRPr lang="en-US" sz="1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017F218C-B7F1-4CF7-A8A8-101B20F393CA}"/>
                </a:ext>
              </a:extLst>
            </p:cNvPr>
            <p:cNvGrpSpPr/>
            <p:nvPr/>
          </p:nvGrpSpPr>
          <p:grpSpPr>
            <a:xfrm>
              <a:off x="6318504" y="3611880"/>
              <a:ext cx="1980000" cy="1280160"/>
              <a:chOff x="5943600" y="4160520"/>
              <a:chExt cx="1980000" cy="1280160"/>
            </a:xfrm>
          </p:grpSpPr>
          <p:sp>
            <p:nvSpPr>
              <p:cNvPr id="14" name="Text 12"/>
              <p:cNvSpPr txBox="1"/>
              <p:nvPr/>
            </p:nvSpPr>
            <p:spPr>
              <a:xfrm>
                <a:off x="5943600" y="4160520"/>
                <a:ext cx="1980000" cy="7132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4000" b="1" dirty="0">
                    <a:solidFill>
                      <a:srgbClr val="0E1A2B"/>
                    </a:solidFill>
                    <a:latin typeface="Arial" panose="020B0604020202020204" pitchFamily="34" charset="0"/>
                    <a:ea typeface="Cambria" pitchFamily="34" charset="-122"/>
                    <a:cs typeface="Arial" panose="020B0604020202020204" pitchFamily="34" charset="0"/>
                  </a:rPr>
                  <a:t>13.5</a:t>
                </a:r>
                <a:endParaRPr lang="en-US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 13"/>
              <p:cNvSpPr txBox="1"/>
              <p:nvPr/>
            </p:nvSpPr>
            <p:spPr>
              <a:xfrm>
                <a:off x="5943600" y="4892040"/>
                <a:ext cx="198000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115000"/>
                  </a:lnSpc>
                  <a:buNone/>
                </a:pPr>
                <a:r>
                  <a:rPr lang="en-US" sz="1150" dirty="0">
                    <a:solidFill>
                      <a:srgbClr val="5A6472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MAE do Prophet</a:t>
                </a:r>
                <a:endParaRPr lang="en-US" sz="1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15000"/>
                  </a:lnSpc>
                  <a:buNone/>
                </a:pPr>
                <a:r>
                  <a:rPr lang="en-US" sz="1150" dirty="0">
                    <a:solidFill>
                      <a:srgbClr val="5A6472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no horizonte D+7</a:t>
                </a:r>
                <a:endParaRPr lang="en-US" sz="1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C835D638-C687-4C00-AB72-D02925692B91}"/>
                </a:ext>
              </a:extLst>
            </p:cNvPr>
            <p:cNvGrpSpPr/>
            <p:nvPr/>
          </p:nvGrpSpPr>
          <p:grpSpPr>
            <a:xfrm>
              <a:off x="8878824" y="3611880"/>
              <a:ext cx="1980000" cy="1280160"/>
              <a:chOff x="8503920" y="4160520"/>
              <a:chExt cx="1980000" cy="1280160"/>
            </a:xfrm>
          </p:grpSpPr>
          <p:sp>
            <p:nvSpPr>
              <p:cNvPr id="16" name="Text 14"/>
              <p:cNvSpPr txBox="1"/>
              <p:nvPr/>
            </p:nvSpPr>
            <p:spPr>
              <a:xfrm>
                <a:off x="8503920" y="4160520"/>
                <a:ext cx="1980000" cy="7132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4000" b="1" dirty="0">
                    <a:solidFill>
                      <a:srgbClr val="D62839"/>
                    </a:solidFill>
                    <a:latin typeface="Arial" panose="020B0604020202020204" pitchFamily="34" charset="0"/>
                    <a:ea typeface="Cambria" pitchFamily="34" charset="-122"/>
                    <a:cs typeface="Arial" panose="020B0604020202020204" pitchFamily="34" charset="0"/>
                  </a:rPr>
                  <a:t>-12,6%</a:t>
                </a:r>
                <a:endParaRPr lang="en-US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Text 15"/>
              <p:cNvSpPr txBox="1"/>
              <p:nvPr/>
            </p:nvSpPr>
            <p:spPr>
              <a:xfrm>
                <a:off x="8503920" y="4892040"/>
                <a:ext cx="198000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lnSpc>
                    <a:spcPct val="115000"/>
                  </a:lnSpc>
                  <a:buNone/>
                </a:pPr>
                <a:r>
                  <a:rPr lang="en-US" sz="1150" dirty="0">
                    <a:solidFill>
                      <a:srgbClr val="5A6472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de erro contra a baseline</a:t>
                </a:r>
                <a:endParaRPr lang="en-US" sz="1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15000"/>
                  </a:lnSpc>
                  <a:buNone/>
                </a:pPr>
                <a:r>
                  <a:rPr lang="en-US" sz="1150" dirty="0">
                    <a:solidFill>
                      <a:srgbClr val="5A6472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(média D+1 e D+7)</a:t>
                </a:r>
                <a:endParaRPr lang="en-US" sz="11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8" name="Shape 16"/>
          <p:cNvSpPr/>
          <p:nvPr/>
        </p:nvSpPr>
        <p:spPr>
          <a:xfrm>
            <a:off x="822960" y="5486400"/>
            <a:ext cx="1060704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97280" y="563270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pt-BR" sz="1250" b="1" noProof="1">
                <a:solidFill>
                  <a:srgbClr val="D6283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Protocolo para realização de simulação (backtest): </a:t>
            </a:r>
            <a:r>
              <a:rPr lang="pt-BR" sz="1250" noProof="1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60 dias de teste, sempre no final da linha do tempo. O modelo caminha dia a dia recebendo a observação real antes de prever — nenhum dia futuro entra no ajuste, em nenhum dos modelos comparados.</a:t>
            </a:r>
            <a:endParaRPr lang="pt-BR" sz="1250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116207FD-81C9-4470-BB1A-DFD4C11D83F1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A72B9243-21C5-40E3-9E66-17FAC2C91203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23" name="Shape 0">
                <a:extLst>
                  <a:ext uri="{FF2B5EF4-FFF2-40B4-BE49-F238E27FC236}">
                    <a16:creationId xmlns:a16="http://schemas.microsoft.com/office/drawing/2014/main" id="{753BB7B0-6F0E-4A32-AD99-5BE17B8F270C}"/>
                  </a:ext>
                </a:extLst>
              </p:cNvPr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 1">
                <a:extLst>
                  <a:ext uri="{FF2B5EF4-FFF2-40B4-BE49-F238E27FC236}">
                    <a16:creationId xmlns:a16="http://schemas.microsoft.com/office/drawing/2014/main" id="{CB91F056-5E77-4AA7-8A9D-D4693B25031E}"/>
                  </a:ext>
                </a:extLst>
              </p:cNvPr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4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" name="Text 2">
              <a:extLst>
                <a:ext uri="{FF2B5EF4-FFF2-40B4-BE49-F238E27FC236}">
                  <a16:creationId xmlns:a16="http://schemas.microsoft.com/office/drawing/2014/main" id="{532FC933-0E16-4B1F-8331-164EB6997D6D}"/>
                </a:ext>
              </a:extLst>
            </p:cNvPr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Baselines</a:t>
              </a:r>
              <a:endParaRPr lang="pt-BR" sz="30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685800" y="1133856"/>
            <a:ext cx="10835640" cy="987552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1444752"/>
            <a:ext cx="365760" cy="365760"/>
          </a:xfrm>
          <a:prstGeom prst="ellipse">
            <a:avLst/>
          </a:prstGeom>
          <a:solidFill>
            <a:srgbClr val="2EC4D8"/>
          </a:solidFill>
          <a:ln/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417320" y="1261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Prophet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417320" y="16367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D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Escolhido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840480" y="11887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000" b="0">
                <a:solidFill>
                  <a:srgbClr val="1B2430"/>
                </a:solidFill>
                <a:latin typeface="Arial"/>
              </a:rPr>
              <a:t>Separa a série em três partes: tendência, ciclo semanal e feriados.</a:t>
            </a:r>
          </a:p>
          <a:p>
            <a:r>
              <a:rPr sz="1000" b="0">
                <a:solidFill>
                  <a:srgbClr val="1B2430"/>
                </a:solidFill>
                <a:latin typeface="Arial"/>
              </a:rPr>
              <a:t>Changepoints são as datas em que o ritmo muda de patamar — o modelo acha sozinho.</a:t>
            </a:r>
          </a:p>
          <a:p>
            <a:r>
              <a:rPr sz="1000" b="1">
                <a:solidFill>
                  <a:srgbClr val="1B2430"/>
                </a:solidFill>
                <a:latin typeface="Arial"/>
              </a:rPr>
              <a:t>Melhor desempenho no conjunto das duas séries.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8046720" y="1188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000" b="0" i="1">
                <a:solidFill>
                  <a:srgbClr val="5A6472"/>
                </a:solidFill>
                <a:latin typeface="Arial"/>
              </a:rPr>
              <a:t>Limitação: dependência pesada (cmdstanpy, que compila em C++) e empate estatístico com SARIMAX.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2249424"/>
            <a:ext cx="10835640" cy="987552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2560320"/>
            <a:ext cx="365760" cy="365760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4173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SARIMAX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417320" y="2752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Comparação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840480" y="230428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000" b="0">
                <a:solidFill>
                  <a:srgbClr val="1B2430"/>
                </a:solidFill>
                <a:latin typeface="Arial"/>
              </a:rPr>
              <a:t>(1,1,1)(1,1,1,7): os três primeiros usam o dia e o erro anteriores;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000" b="0">
                <a:solidFill>
                  <a:srgbClr val="1B2430"/>
                </a:solidFill>
                <a:latin typeface="Arial"/>
              </a:rPr>
              <a:t>os quatro últimos repetem isso a cada 7 dias — o ciclo da semana.</a:t>
            </a:r>
          </a:p>
          <a:p>
            <a:r>
              <a:rPr sz="1000" b="1">
                <a:solidFill>
                  <a:srgbClr val="1B2430"/>
                </a:solidFill>
                <a:latin typeface="Arial"/>
              </a:rPr>
              <a:t>Vence no D+1 e domina a série de volume bruto.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8046720" y="230428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000" b="0" i="1">
                <a:solidFill>
                  <a:srgbClr val="5A6472"/>
                </a:solidFill>
                <a:latin typeface="Arial"/>
              </a:rPr>
              <a:t>Limitação: não escala para múltiplas séries — exigiria um modelo por produto.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" y="3364992"/>
            <a:ext cx="10835640" cy="987552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4400" y="3675888"/>
            <a:ext cx="365760" cy="365760"/>
          </a:xfrm>
          <a:prstGeom prst="ellipse">
            <a:avLst/>
          </a:prstGeom>
          <a:solidFill>
            <a:srgbClr val="D62839"/>
          </a:solidFill>
          <a:ln/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417320" y="3493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CatBoost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417320" y="3867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283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Clássico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840480" y="341985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000" b="0">
                <a:solidFill>
                  <a:srgbClr val="1B2430"/>
                </a:solidFill>
                <a:latin typeface="Arial"/>
              </a:rPr>
              <a:t>Muitas árvores de decisão em sequência, cada uma corrigindo o erro da anterior.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000" b="0">
                <a:solidFill>
                  <a:srgbClr val="1B2430"/>
                </a:solidFill>
                <a:latin typeface="Arial"/>
              </a:rPr>
              <a:t>Lida com texto e categoria sem precisar transformar em número.</a:t>
            </a:r>
          </a:p>
          <a:p>
            <a:r>
              <a:rPr sz="1000" b="1">
                <a:solidFill>
                  <a:srgbClr val="1B2430"/>
                </a:solidFill>
                <a:latin typeface="Arial"/>
              </a:rPr>
              <a:t>Usado para classificar risco de OLA, não para prever volume.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8046720" y="341985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000" b="0" i="1">
                <a:solidFill>
                  <a:srgbClr val="5A6472"/>
                </a:solidFill>
                <a:latin typeface="Arial"/>
              </a:rPr>
              <a:t>Limitação: na previsão de volume ficou abaixo da baseline por falta de dados.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5800" y="4480560"/>
            <a:ext cx="10835640" cy="987552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4400" y="4791456"/>
            <a:ext cx="365760" cy="365760"/>
          </a:xfrm>
          <a:prstGeom prst="ellipse">
            <a:avLst/>
          </a:prstGeom>
          <a:solidFill>
            <a:srgbClr val="6C7A89"/>
          </a:solidFill>
          <a:ln/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417320" y="46085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SVR / Gradient Boosting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417320" y="4983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7A8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Experimental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3840480" y="4535424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000" b="0">
                <a:solidFill>
                  <a:srgbClr val="1B2430"/>
                </a:solidFill>
                <a:latin typeface="Arial"/>
              </a:rPr>
              <a:t>Regressores sobre a camada Gold: a tabela final, uma linha por dia,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000" b="0">
                <a:solidFill>
                  <a:srgbClr val="1B2430"/>
                </a:solidFill>
                <a:latin typeface="Arial"/>
              </a:rPr>
              <a:t>já com lags, médias móveis e calendário prontos.</a:t>
            </a:r>
          </a:p>
          <a:p>
            <a:r>
              <a:rPr sz="1000" b="1">
                <a:solidFill>
                  <a:srgbClr val="1B2430"/>
                </a:solidFill>
                <a:latin typeface="Arial"/>
              </a:rPr>
              <a:t>Entraram só como comparação.</a:t>
            </a:r>
          </a:p>
        </p:txBody>
      </p:sp>
      <p:sp>
        <p:nvSpPr>
          <p:cNvPr id="29" name="Text 27"/>
          <p:cNvSpPr txBox="1"/>
          <p:nvPr/>
        </p:nvSpPr>
        <p:spPr>
          <a:xfrm>
            <a:off x="8046720" y="453542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000" b="0" i="1">
                <a:solidFill>
                  <a:srgbClr val="5A6472"/>
                </a:solidFill>
                <a:latin typeface="Arial"/>
              </a:rPr>
              <a:t>Limitação: com 274 dias de treino e 27 variáveis, não superaram a baseline — há mais colunas do que a base sustenta.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685800" y="6053328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83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Prophet e SARIMAX empataram estatisticamente: a diferença de MAE fica dentro do intervalo de confiança de 95% nos dois horizontes.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E7399578-BD61-43D7-9228-C2E4AADC6615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A8666A2F-E3A4-492E-8DB3-A29A7AB5BAEB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34" name="Shape 0">
                <a:extLst>
                  <a:ext uri="{FF2B5EF4-FFF2-40B4-BE49-F238E27FC236}">
                    <a16:creationId xmlns:a16="http://schemas.microsoft.com/office/drawing/2014/main" id="{18DEAD1D-A353-411D-9A16-0901B65251C8}"/>
                  </a:ext>
                </a:extLst>
              </p:cNvPr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Text 1">
                <a:extLst>
                  <a:ext uri="{FF2B5EF4-FFF2-40B4-BE49-F238E27FC236}">
                    <a16:creationId xmlns:a16="http://schemas.microsoft.com/office/drawing/2014/main" id="{0DDB9068-1F7A-42B5-A54C-050416F89803}"/>
                  </a:ext>
                </a:extLst>
              </p:cNvPr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5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Text 2">
              <a:extLst>
                <a:ext uri="{FF2B5EF4-FFF2-40B4-BE49-F238E27FC236}">
                  <a16:creationId xmlns:a16="http://schemas.microsoft.com/office/drawing/2014/main" id="{2A6383AA-32AA-4A21-9D79-5A578434A941}"/>
                </a:ext>
              </a:extLst>
            </p:cNvPr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Modelos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avaliados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e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suas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limitações</a:t>
              </a:r>
              <a:endParaRPr lang="pt-BR" sz="30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g1_real_previs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6583680" cy="23957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Image 1" descr="g2_metric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77640"/>
            <a:ext cx="6583680" cy="19751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Shape 4"/>
          <p:cNvSpPr/>
          <p:nvPr/>
        </p:nvSpPr>
        <p:spPr>
          <a:xfrm>
            <a:off x="7635240" y="1463040"/>
            <a:ext cx="3886200" cy="4480560"/>
          </a:xfrm>
          <a:prstGeom prst="roundRect">
            <a:avLst>
              <a:gd name="adj" fmla="val 1882"/>
            </a:avLst>
          </a:prstGeom>
          <a:solidFill>
            <a:srgbClr val="0E1A2B"/>
          </a:solidFill>
          <a:ln/>
        </p:spPr>
        <p:txBody>
          <a:bodyPr/>
          <a:lstStyle/>
          <a:p>
            <a:endParaRPr 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790956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D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Leitura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7909560" y="2011680"/>
            <a:ext cx="3383280" cy="2880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4E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 Prophet reduz o MAE em 12,6% contra a baseline, nos dois horizontes. MAPE de 43.0% parece alto — e a explicação importa: </a:t>
            </a:r>
            <a:r>
              <a:rPr lang="en-US" sz="1200" b="1" dirty="0">
                <a:solidFill>
                  <a:srgbClr val="DCE4E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 MAPE penaliza desproporcionalmente os dias de baixo volume</a:t>
            </a:r>
            <a:r>
              <a:rPr lang="en-US" sz="1200" dirty="0">
                <a:solidFill>
                  <a:srgbClr val="DCE4E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(fins de semana e feriados, com 10 a 20 incidentes). O MAE de 13.5 incidentes/dia sobre uma média de 69 é a leitura mais fiel: 19% do nível da série.
O erro no D+7 é praticamente igual ao do D+1 — o modelo não se degrada ao prever mais longe, porque a sazonalidade semanal se mantém.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01ECAA3-6287-4F3A-9679-3BA5F98D97CD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B908CD15-DE07-4DF9-9832-63D84EEA6C40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14" name="Shape 0">
                <a:extLst>
                  <a:ext uri="{FF2B5EF4-FFF2-40B4-BE49-F238E27FC236}">
                    <a16:creationId xmlns:a16="http://schemas.microsoft.com/office/drawing/2014/main" id="{8A6B643F-1D44-4A0D-A99A-31A9C6212745}"/>
                  </a:ext>
                </a:extLst>
              </p:cNvPr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 1">
                <a:extLst>
                  <a:ext uri="{FF2B5EF4-FFF2-40B4-BE49-F238E27FC236}">
                    <a16:creationId xmlns:a16="http://schemas.microsoft.com/office/drawing/2014/main" id="{E03021F9-A99F-4B6A-AE15-516A98CAAF17}"/>
                  </a:ext>
                </a:extLst>
              </p:cNvPr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6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" name="Text 2">
              <a:extLst>
                <a:ext uri="{FF2B5EF4-FFF2-40B4-BE49-F238E27FC236}">
                  <a16:creationId xmlns:a16="http://schemas.microsoft.com/office/drawing/2014/main" id="{3939A624-1372-4094-BCBA-A4A33AD8FF36}"/>
                </a:ext>
              </a:extLst>
            </p:cNvPr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Métricas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–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previsão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de volume (D+1 e D+7)</a:t>
              </a:r>
              <a:endParaRPr lang="pt-BR" sz="30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7909560" y="4983480"/>
            <a:ext cx="3383280" cy="13716"/>
          </a:xfrm>
          <a:prstGeom prst="rect">
            <a:avLst/>
          </a:prstGeom>
          <a:solidFill>
            <a:srgbClr val="3A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5102352"/>
            <a:ext cx="3383280" cy="838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50" b="1" dirty="0">
                <a:solidFill>
                  <a:srgbClr val="2EC4D8"/>
                </a:solidFill>
                <a:latin typeface="Calibri"/>
              </a:rPr>
              <a:t>Curiosidade</a:t>
            </a:r>
            <a:r>
              <a:rPr sz="850" b="1" dirty="0">
                <a:solidFill>
                  <a:srgbClr val="2EC4D8"/>
                </a:solidFill>
                <a:latin typeface="Calibri"/>
              </a:rPr>
              <a:t> · o </a:t>
            </a:r>
            <a:r>
              <a:rPr sz="850" b="1" dirty="0" err="1">
                <a:solidFill>
                  <a:srgbClr val="2EC4D8"/>
                </a:solidFill>
                <a:latin typeface="Calibri"/>
              </a:rPr>
              <a:t>que</a:t>
            </a:r>
            <a:r>
              <a:rPr sz="850" b="1" dirty="0">
                <a:solidFill>
                  <a:srgbClr val="2EC4D8"/>
                </a:solidFill>
                <a:latin typeface="Calibri"/>
              </a:rPr>
              <a:t> </a:t>
            </a:r>
            <a:r>
              <a:rPr sz="850" b="1" dirty="0" err="1">
                <a:solidFill>
                  <a:srgbClr val="2EC4D8"/>
                </a:solidFill>
                <a:latin typeface="Calibri"/>
              </a:rPr>
              <a:t>cada</a:t>
            </a:r>
            <a:r>
              <a:rPr sz="850" b="1" dirty="0">
                <a:solidFill>
                  <a:srgbClr val="2EC4D8"/>
                </a:solidFill>
                <a:latin typeface="Calibri"/>
              </a:rPr>
              <a:t> </a:t>
            </a:r>
            <a:r>
              <a:rPr sz="850" b="1" dirty="0" err="1">
                <a:solidFill>
                  <a:srgbClr val="2EC4D8"/>
                </a:solidFill>
                <a:latin typeface="Calibri"/>
              </a:rPr>
              <a:t>métrica</a:t>
            </a:r>
            <a:r>
              <a:rPr sz="850" b="1" dirty="0">
                <a:solidFill>
                  <a:srgbClr val="2EC4D8"/>
                </a:solidFill>
                <a:latin typeface="Calibri"/>
              </a:rPr>
              <a:t> </a:t>
            </a:r>
            <a:r>
              <a:rPr sz="850" b="1" dirty="0" err="1">
                <a:solidFill>
                  <a:srgbClr val="2EC4D8"/>
                </a:solidFill>
                <a:latin typeface="Calibri"/>
              </a:rPr>
              <a:t>mede</a:t>
            </a:r>
            <a:endParaRPr sz="850" b="1" dirty="0">
              <a:solidFill>
                <a:srgbClr val="2EC4D8"/>
              </a:solidFill>
              <a:latin typeface="Calibri"/>
            </a:endParaRPr>
          </a:p>
          <a:p>
            <a:r>
              <a:rPr sz="800" b="0" dirty="0">
                <a:solidFill>
                  <a:srgbClr val="C7D2DD"/>
                </a:solidFill>
                <a:latin typeface="Calibri"/>
              </a:rPr>
              <a:t>MAE —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erro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médio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,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em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chamados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. É o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mais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fácil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de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ler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.</a:t>
            </a:r>
          </a:p>
          <a:p>
            <a:r>
              <a:rPr sz="800" b="0" dirty="0">
                <a:solidFill>
                  <a:srgbClr val="C7D2DD"/>
                </a:solidFill>
                <a:latin typeface="Calibri"/>
              </a:rPr>
              <a:t>RMSE —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mesma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ideia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, mas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eleva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o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erro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ao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quadrado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: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pune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muito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o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dia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em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que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erra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feio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.</a:t>
            </a:r>
          </a:p>
          <a:p>
            <a:r>
              <a:rPr sz="800" b="0" dirty="0">
                <a:solidFill>
                  <a:srgbClr val="C7D2DD"/>
                </a:solidFill>
                <a:latin typeface="Calibri"/>
              </a:rPr>
              <a:t>MAPE —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erro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em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%.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Estoura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quando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o volume do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dia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é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baixo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(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errar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5 num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dia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de 10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já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</a:t>
            </a:r>
            <a:r>
              <a:rPr sz="800" b="0" dirty="0" err="1">
                <a:solidFill>
                  <a:srgbClr val="C7D2DD"/>
                </a:solidFill>
                <a:latin typeface="Calibri"/>
              </a:rPr>
              <a:t>dá</a:t>
            </a:r>
            <a:r>
              <a:rPr sz="800" b="0" dirty="0">
                <a:solidFill>
                  <a:srgbClr val="C7D2DD"/>
                </a:solidFill>
                <a:latin typeface="Calibri"/>
              </a:rPr>
              <a:t> 50%).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g3_prioriz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27563"/>
            <a:ext cx="3977640" cy="27432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Image 1" descr="g4_confus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27563"/>
            <a:ext cx="3291840" cy="27432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Shape 4"/>
          <p:cNvSpPr/>
          <p:nvPr/>
        </p:nvSpPr>
        <p:spPr>
          <a:xfrm>
            <a:off x="8412480" y="1427563"/>
            <a:ext cx="310896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8641080" y="1610443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Alvo: estouro de OLA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8641080" y="1976203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ROC-AUC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10241280" y="1976203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0.84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8641080" y="2323675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PR-AUC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10241280" y="2323675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0.51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8641080" y="2671147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F1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10241280" y="2671147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0.45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8641080" y="3018619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Precision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10241280" y="3018619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0.56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8641080" y="3366091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Recall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0241280" y="3366091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0.38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8641080" y="3713563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Taxa-base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10241280" y="3713563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11%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85800" y="4732020"/>
            <a:ext cx="10835640" cy="1572768"/>
          </a:xfrm>
          <a:prstGeom prst="roundRect">
            <a:avLst>
              <a:gd name="adj" fmla="val 5000"/>
            </a:avLst>
          </a:prstGeom>
          <a:solidFill>
            <a:srgbClr val="0E1A2B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9"/>
          <p:cNvSpPr txBox="1"/>
          <p:nvPr/>
        </p:nvSpPr>
        <p:spPr>
          <a:xfrm>
            <a:off x="960120" y="4869180"/>
            <a:ext cx="10287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100" b="1" spc="200">
                <a:solidFill>
                  <a:srgbClr val="2EC4D8"/>
                </a:solidFill>
                <a:latin typeface="Calibri"/>
              </a:rPr>
              <a:t>POR QUE NÃO USAMOS ACURÁCIA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150" b="0">
                <a:solidFill>
                  <a:srgbClr val="FFFFFF"/>
                </a:solidFill>
                <a:latin typeface="Calibri"/>
              </a:rPr>
              <a:t>Só 10,7% dos chamados estouram o OLA. Um modelo que respondesse “nunca estoura” para todos teria 89,3% de acurácia — e não encontraria um único caso de risco. A métrica premiaria justamente o modelo inútil.</a:t>
            </a:r>
          </a:p>
          <a:p>
            <a:r>
              <a:rPr sz="1050" b="0">
                <a:solidFill>
                  <a:srgbClr val="C7D2DD"/>
                </a:solidFill>
                <a:latin typeface="Calibri"/>
              </a:rPr>
              <a:t>Por isso avaliamos por F1, Precision e Recall, e comparamos o PR-AUC (0,51) com a taxa-base de 11%. Precision = dos que apontamos, quantos de fato estouraram. Recall = dos que estouraram, quantos conseguimos apontar.</a:t>
            </a:r>
          </a:p>
          <a:p>
            <a:r>
              <a:rPr sz="1150" b="1">
                <a:solidFill>
                  <a:srgbClr val="FFFFFF"/>
                </a:solidFill>
                <a:latin typeface="Calibri"/>
              </a:rPr>
              <a:t>Na prática: revisando 20% da fila ordenada por risco, o time encontra 62% das violações — 3,1x o que encontraria revisando por ordem de chegada.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38E48CA8-C000-422E-8555-B1D5B864B42D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E9040B63-8AD4-48D9-9800-8C184765B09B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27" name="Shape 0">
                <a:extLst>
                  <a:ext uri="{FF2B5EF4-FFF2-40B4-BE49-F238E27FC236}">
                    <a16:creationId xmlns:a16="http://schemas.microsoft.com/office/drawing/2014/main" id="{9735DD46-D79B-488B-B715-6C185A92AE56}"/>
                  </a:ext>
                </a:extLst>
              </p:cNvPr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Text 1">
                <a:extLst>
                  <a:ext uri="{FF2B5EF4-FFF2-40B4-BE49-F238E27FC236}">
                    <a16:creationId xmlns:a16="http://schemas.microsoft.com/office/drawing/2014/main" id="{CA125C84-8B0A-4FAA-BC34-BB68B5318302}"/>
                  </a:ext>
                </a:extLst>
              </p:cNvPr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7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" name="Text 2">
              <a:extLst>
                <a:ext uri="{FF2B5EF4-FFF2-40B4-BE49-F238E27FC236}">
                  <a16:creationId xmlns:a16="http://schemas.microsoft.com/office/drawing/2014/main" id="{97714798-18A3-4202-BB91-95A5140876F4}"/>
                </a:ext>
              </a:extLst>
            </p:cNvPr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Métricas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–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risco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de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violação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de OLA</a:t>
              </a:r>
              <a:endParaRPr lang="pt-BR" sz="30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g5_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32" y="1322407"/>
            <a:ext cx="4827167" cy="30279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 4"/>
          <p:cNvSpPr txBox="1"/>
          <p:nvPr/>
        </p:nvSpPr>
        <p:spPr>
          <a:xfrm>
            <a:off x="6035040" y="124139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Modelo, parâmetro e métricas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035040" y="1664208"/>
            <a:ext cx="5394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None/>
            </a:pPr>
            <a:r>
              <a:rPr sz="950" b="1" spc="120">
                <a:solidFill>
                  <a:srgbClr val="D62839"/>
                </a:solidFill>
                <a:latin typeface="Calibri"/>
              </a:rPr>
              <a:t>MODELO — o que agrupa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sz="1100" b="0">
                <a:solidFill>
                  <a:srgbClr val="1B2430"/>
                </a:solidFill>
                <a:latin typeface="Calibri"/>
              </a:rPr>
              <a:t>GMM (mistura de gaussianas): junta descrições parecidas. Antes, o texto vira número — TF-IDF pesa as palavras e o SVD comprime em 25 dimensões.</a:t>
            </a:r>
          </a:p>
          <a:p>
            <a:pPr>
              <a:spcBef>
                <a:spcPts val="700"/>
              </a:spcBef>
              <a:buNone/>
            </a:pPr>
            <a:r>
              <a:rPr sz="950" b="1" spc="120">
                <a:solidFill>
                  <a:srgbClr val="D62839"/>
                </a:solidFill>
                <a:latin typeface="Calibri"/>
              </a:rPr>
              <a:t>PARÂMETRO — o que nós escolhemos</a:t>
            </a:r>
          </a:p>
          <a:p>
            <a:pPr>
              <a:buNone/>
            </a:pPr>
            <a:r>
              <a:rPr sz="1100" b="0">
                <a:solidFill>
                  <a:srgbClr val="1B2430"/>
                </a:solidFill>
                <a:latin typeface="Calibri"/>
              </a:rPr>
              <a:t>k = número de grupos. Adotamos k=20. Não é resultado do modelo: é decisão nossa, e o modelo obedece.</a:t>
            </a:r>
          </a:p>
          <a:p>
            <a:pPr>
              <a:spcBef>
                <a:spcPts val="700"/>
              </a:spcBef>
              <a:buNone/>
            </a:pPr>
            <a:r>
              <a:rPr sz="950" b="1" spc="120">
                <a:solidFill>
                  <a:srgbClr val="D62839"/>
                </a:solidFill>
                <a:latin typeface="Calibri"/>
              </a:rPr>
              <a:t>MÉTRICAS — como julgamos essa escolha</a:t>
            </a:r>
          </a:p>
          <a:p>
            <a:pPr>
              <a:buNone/>
            </a:pPr>
            <a:r>
              <a:rPr sz="1100" b="0">
                <a:solidFill>
                  <a:srgbClr val="1B2430"/>
                </a:solidFill>
                <a:latin typeface="Calibri"/>
              </a:rPr>
              <a:t>Silhouette (maior = melhor): 0,11 em k=20 — baixo, e reportamos assim mesmo. Em texto, grupos de sentidos diferentes ficam geometricamente próximos.</a:t>
            </a:r>
          </a:p>
          <a:p>
            <a:pPr>
              <a:buNone/>
            </a:pPr>
            <a:r>
              <a:rPr sz="1100" b="0">
                <a:solidFill>
                  <a:srgbClr val="1B2430"/>
                </a:solidFill>
                <a:latin typeface="Calibri"/>
              </a:rPr>
              <a:t>Davies-Bouldin (menor = melhor): cai de 3,05 (k=5) para 1,71 (k=20). A separação melhora com mais grupos.</a:t>
            </a:r>
          </a:p>
          <a:p>
            <a:pPr>
              <a:buNone/>
            </a:pPr>
            <a:r>
              <a:rPr sz="1100" b="0">
                <a:solidFill>
                  <a:srgbClr val="1B2430"/>
                </a:solidFill>
                <a:latin typeface="Calibri"/>
              </a:rPr>
              <a:t>AIC e BIC: não têm mínimo, caem indefinidamente. Segui-los levaria a centenas de grupos inúteis.</a:t>
            </a:r>
          </a:p>
          <a:p>
            <a:pPr>
              <a:spcBef>
                <a:spcPts val="700"/>
              </a:spcBef>
              <a:buNone/>
            </a:pPr>
            <a:r>
              <a:rPr sz="1100" b="1">
                <a:solidFill>
                  <a:srgbClr val="0E1A2B"/>
                </a:solidFill>
                <a:latin typeface="Calibri"/>
              </a:rPr>
              <a:t>Por isso k=20 veio de interpretabilidade, não de métrica: é quanto um time consegue nomear e usar numa reunião.</a:t>
            </a:r>
          </a:p>
        </p:txBody>
      </p:sp>
      <p:sp>
        <p:nvSpPr>
          <p:cNvPr id="9" name="Shape 6"/>
          <p:cNvSpPr/>
          <p:nvPr/>
        </p:nvSpPr>
        <p:spPr>
          <a:xfrm>
            <a:off x="887832" y="5060013"/>
            <a:ext cx="10015394" cy="37619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162152" y="5097033"/>
            <a:ext cx="10287000" cy="30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6283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Ganho operacional: </a:t>
            </a: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11.401 descrições distintas reduzidas a 20 </a:t>
            </a:r>
            <a:r>
              <a:rPr lang="en-US" sz="1300" dirty="0" err="1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grupos</a:t>
            </a:r>
            <a:r>
              <a:rPr lang="en-US" sz="13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nomeáveis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7459846-073D-4349-9DDB-EEC1FCDC7D97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68E57B58-9D77-46E0-B1D0-61FB800698BA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14" name="Shape 0">
                <a:extLst>
                  <a:ext uri="{FF2B5EF4-FFF2-40B4-BE49-F238E27FC236}">
                    <a16:creationId xmlns:a16="http://schemas.microsoft.com/office/drawing/2014/main" id="{F8954539-7188-4DB8-9D8B-8212EFB7BA4B}"/>
                  </a:ext>
                </a:extLst>
              </p:cNvPr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Text 1">
                <a:extLst>
                  <a:ext uri="{FF2B5EF4-FFF2-40B4-BE49-F238E27FC236}">
                    <a16:creationId xmlns:a16="http://schemas.microsoft.com/office/drawing/2014/main" id="{FCEF5092-E0F5-494E-B85D-0ED9F6317AA2}"/>
                  </a:ext>
                </a:extLst>
              </p:cNvPr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8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" name="Text 2">
              <a:extLst>
                <a:ext uri="{FF2B5EF4-FFF2-40B4-BE49-F238E27FC236}">
                  <a16:creationId xmlns:a16="http://schemas.microsoft.com/office/drawing/2014/main" id="{B6900E3C-688D-41F0-9D91-E362374ED6B0}"/>
                </a:ext>
              </a:extLst>
            </p:cNvPr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Métricas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–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clusterização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de incidentes</a:t>
              </a:r>
              <a:endParaRPr lang="pt-BR" sz="30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Agrupar 35">
            <a:extLst>
              <a:ext uri="{FF2B5EF4-FFF2-40B4-BE49-F238E27FC236}">
                <a16:creationId xmlns:a16="http://schemas.microsoft.com/office/drawing/2014/main" id="{0D7F284C-FAE9-4972-A08D-AABD5945C8C6}"/>
              </a:ext>
            </a:extLst>
          </p:cNvPr>
          <p:cNvGrpSpPr/>
          <p:nvPr/>
        </p:nvGrpSpPr>
        <p:grpSpPr>
          <a:xfrm>
            <a:off x="685800" y="1359077"/>
            <a:ext cx="10835640" cy="640080"/>
            <a:chOff x="685800" y="1481328"/>
            <a:chExt cx="10835640" cy="640080"/>
          </a:xfrm>
        </p:grpSpPr>
        <p:sp>
          <p:nvSpPr>
            <p:cNvPr id="6" name="Shape 4"/>
            <p:cNvSpPr/>
            <p:nvPr/>
          </p:nvSpPr>
          <p:spPr>
            <a:xfrm>
              <a:off x="685800" y="1481328"/>
              <a:ext cx="10835640" cy="640080"/>
            </a:xfrm>
            <a:prstGeom prst="roundRect">
              <a:avLst>
                <a:gd name="adj" fmla="val 7143"/>
              </a:avLst>
            </a:prstGeom>
            <a:solidFill>
              <a:srgbClr val="F4F6F8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914400" y="1682496"/>
              <a:ext cx="237744" cy="237744"/>
            </a:xfrm>
            <a:prstGeom prst="ellipse">
              <a:avLst/>
            </a:prstGeom>
            <a:solidFill>
              <a:srgbClr val="2EC4D8"/>
            </a:solidFill>
            <a:ln/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1325880" y="1627632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E1A2B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Semente aleatória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4297680" y="1627632"/>
              <a:ext cx="7040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SEED = 42 fixado em numpy, CatBoost, GMM e todos os splits</a:t>
              </a:r>
              <a:endParaRPr lang="en-US" sz="1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F29E72B4-615C-4173-AFE0-37F5DF47824B}"/>
              </a:ext>
            </a:extLst>
          </p:cNvPr>
          <p:cNvGrpSpPr/>
          <p:nvPr/>
        </p:nvGrpSpPr>
        <p:grpSpPr>
          <a:xfrm>
            <a:off x="685800" y="2197343"/>
            <a:ext cx="10835640" cy="640080"/>
            <a:chOff x="685800" y="2231136"/>
            <a:chExt cx="10835640" cy="640080"/>
          </a:xfrm>
        </p:grpSpPr>
        <p:sp>
          <p:nvSpPr>
            <p:cNvPr id="10" name="Shape 8"/>
            <p:cNvSpPr/>
            <p:nvPr/>
          </p:nvSpPr>
          <p:spPr>
            <a:xfrm>
              <a:off x="685800" y="2231136"/>
              <a:ext cx="10835640" cy="64008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914400" y="2432304"/>
              <a:ext cx="237744" cy="237744"/>
            </a:xfrm>
            <a:prstGeom prst="ellipse">
              <a:avLst/>
            </a:prstGeom>
            <a:solidFill>
              <a:srgbClr val="2EC4D8"/>
            </a:solidFill>
            <a:ln/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1325880" y="2377440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E1A2B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Divisão treino/teste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4297680" y="2377440"/>
              <a:ext cx="7040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Sempre TEMPORAL. Volume: últimos 60 dias. Risco: corte temporal 80/20</a:t>
              </a:r>
              <a:endParaRPr lang="en-US" sz="1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2B451C64-B9EB-468A-8378-DA89674B7ECF}"/>
              </a:ext>
            </a:extLst>
          </p:cNvPr>
          <p:cNvGrpSpPr/>
          <p:nvPr/>
        </p:nvGrpSpPr>
        <p:grpSpPr>
          <a:xfrm>
            <a:off x="685800" y="3035609"/>
            <a:ext cx="10835640" cy="640080"/>
            <a:chOff x="685800" y="2980944"/>
            <a:chExt cx="10835640" cy="640080"/>
          </a:xfrm>
        </p:grpSpPr>
        <p:sp>
          <p:nvSpPr>
            <p:cNvPr id="14" name="Shape 12"/>
            <p:cNvSpPr/>
            <p:nvPr/>
          </p:nvSpPr>
          <p:spPr>
            <a:xfrm>
              <a:off x="685800" y="2980944"/>
              <a:ext cx="10835640" cy="640080"/>
            </a:xfrm>
            <a:prstGeom prst="roundRect">
              <a:avLst>
                <a:gd name="adj" fmla="val 7143"/>
              </a:avLst>
            </a:prstGeom>
            <a:solidFill>
              <a:srgbClr val="F4F6F8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914400" y="3182112"/>
              <a:ext cx="237744" cy="237744"/>
            </a:xfrm>
            <a:prstGeom prst="ellipse">
              <a:avLst/>
            </a:prstGeom>
            <a:solidFill>
              <a:srgbClr val="2EC4D8"/>
            </a:solidFill>
            <a:ln/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1325880" y="3127248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E1A2B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Validação cruzada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4297680" y="3127248"/>
              <a:ext cx="7040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TimeSeriesSplit (5 dobras) para </a:t>
              </a:r>
              <a:r>
                <a:rPr lang="en-US" sz="1250" dirty="0" err="1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calibrar</a:t>
              </a:r>
              <a:r>
                <a:rPr lang="en-US" sz="125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 </a:t>
              </a:r>
              <a:r>
                <a:rPr lang="en-US" sz="1250" dirty="0" err="1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regularização</a:t>
              </a:r>
              <a:endParaRPr lang="en-US" sz="1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BE46B11A-EE21-4048-91C1-BECC8F061166}"/>
              </a:ext>
            </a:extLst>
          </p:cNvPr>
          <p:cNvGrpSpPr/>
          <p:nvPr/>
        </p:nvGrpSpPr>
        <p:grpSpPr>
          <a:xfrm>
            <a:off x="685800" y="3873875"/>
            <a:ext cx="10835640" cy="640080"/>
            <a:chOff x="685800" y="3730752"/>
            <a:chExt cx="10835640" cy="640080"/>
          </a:xfrm>
        </p:grpSpPr>
        <p:sp>
          <p:nvSpPr>
            <p:cNvPr id="18" name="Shape 16"/>
            <p:cNvSpPr/>
            <p:nvPr/>
          </p:nvSpPr>
          <p:spPr>
            <a:xfrm>
              <a:off x="685800" y="3730752"/>
              <a:ext cx="10835640" cy="64008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914400" y="3931920"/>
              <a:ext cx="237744" cy="237744"/>
            </a:xfrm>
            <a:prstGeom prst="ellipse">
              <a:avLst/>
            </a:prstGeom>
            <a:solidFill>
              <a:srgbClr val="2EC4D8"/>
            </a:solidFill>
            <a:ln/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1325880" y="3877056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E1A2B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Auditoria anti-leakage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4297680" y="3877056"/>
              <a:ext cx="7040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assert que falha se variável pós-fato entrar; varredura de shift negativo</a:t>
              </a:r>
              <a:endParaRPr lang="en-US" sz="1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9E88615A-5E35-41C4-9484-1C5A9F94D821}"/>
              </a:ext>
            </a:extLst>
          </p:cNvPr>
          <p:cNvGrpSpPr/>
          <p:nvPr/>
        </p:nvGrpSpPr>
        <p:grpSpPr>
          <a:xfrm>
            <a:off x="685800" y="4712141"/>
            <a:ext cx="10835640" cy="640080"/>
            <a:chOff x="685800" y="4480560"/>
            <a:chExt cx="10835640" cy="640080"/>
          </a:xfrm>
        </p:grpSpPr>
        <p:sp>
          <p:nvSpPr>
            <p:cNvPr id="22" name="Shape 20"/>
            <p:cNvSpPr/>
            <p:nvPr/>
          </p:nvSpPr>
          <p:spPr>
            <a:xfrm>
              <a:off x="685800" y="4480560"/>
              <a:ext cx="10835640" cy="640080"/>
            </a:xfrm>
            <a:prstGeom prst="roundRect">
              <a:avLst>
                <a:gd name="adj" fmla="val 7143"/>
              </a:avLst>
            </a:prstGeom>
            <a:solidFill>
              <a:srgbClr val="F4F6F8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914400" y="4681728"/>
              <a:ext cx="237744" cy="237744"/>
            </a:xfrm>
            <a:prstGeom prst="ellipse">
              <a:avLst/>
            </a:prstGeom>
            <a:solidFill>
              <a:srgbClr val="2EC4D8"/>
            </a:solidFill>
            <a:ln/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1325880" y="4626864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E1A2B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Experimento de controle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4297680" y="4626864"/>
              <a:ext cx="7040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Split aleatório medido contra temporal: 11% de ganho falso, documentado</a:t>
              </a:r>
              <a:endParaRPr lang="en-US" sz="1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7EEC7EA9-8C1D-4C9A-B472-C8D2F31BC9E0}"/>
              </a:ext>
            </a:extLst>
          </p:cNvPr>
          <p:cNvGrpSpPr/>
          <p:nvPr/>
        </p:nvGrpSpPr>
        <p:grpSpPr>
          <a:xfrm>
            <a:off x="685800" y="5550408"/>
            <a:ext cx="10835640" cy="640080"/>
            <a:chOff x="685800" y="5230368"/>
            <a:chExt cx="10835640" cy="640080"/>
          </a:xfrm>
        </p:grpSpPr>
        <p:sp>
          <p:nvSpPr>
            <p:cNvPr id="26" name="Shape 24"/>
            <p:cNvSpPr/>
            <p:nvPr/>
          </p:nvSpPr>
          <p:spPr>
            <a:xfrm>
              <a:off x="685800" y="5230368"/>
              <a:ext cx="10835640" cy="64008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914400" y="5431536"/>
              <a:ext cx="237744" cy="237744"/>
            </a:xfrm>
            <a:prstGeom prst="ellipse">
              <a:avLst/>
            </a:prstGeom>
            <a:solidFill>
              <a:srgbClr val="2EC4D8"/>
            </a:solidFill>
            <a:ln/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1325880" y="5376672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E1A2B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Versionamento</a:t>
              </a:r>
              <a:endParaRPr lang="en-US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4297680" y="5376672"/>
              <a:ext cx="7040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Dois notebooks versionados: entrega final e notebook com 7 experimentos</a:t>
              </a:r>
              <a:endParaRPr lang="en-US" sz="1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E0032AEF-431D-4DCA-BAF3-814A812CBF77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BDED15B6-1922-4409-A3C1-BFC41CF00F77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34" name="Shape 0">
                <a:extLst>
                  <a:ext uri="{FF2B5EF4-FFF2-40B4-BE49-F238E27FC236}">
                    <a16:creationId xmlns:a16="http://schemas.microsoft.com/office/drawing/2014/main" id="{51BD3642-9D17-4CBE-82FD-F89C4151A918}"/>
                  </a:ext>
                </a:extLst>
              </p:cNvPr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Text 1">
                <a:extLst>
                  <a:ext uri="{FF2B5EF4-FFF2-40B4-BE49-F238E27FC236}">
                    <a16:creationId xmlns:a16="http://schemas.microsoft.com/office/drawing/2014/main" id="{57BE351B-EB9D-4735-871A-F6E3AF8915BB}"/>
                  </a:ext>
                </a:extLst>
              </p:cNvPr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9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Text 2">
              <a:extLst>
                <a:ext uri="{FF2B5EF4-FFF2-40B4-BE49-F238E27FC236}">
                  <a16:creationId xmlns:a16="http://schemas.microsoft.com/office/drawing/2014/main" id="{C67E5208-8F0C-4738-8906-A02951D7D34D}"/>
                </a:ext>
              </a:extLst>
            </p:cNvPr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Experimentação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e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reprodutibilidade</a:t>
              </a:r>
              <a:endParaRPr lang="pt-BR" sz="30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Agrupar 63">
            <a:extLst>
              <a:ext uri="{FF2B5EF4-FFF2-40B4-BE49-F238E27FC236}">
                <a16:creationId xmlns:a16="http://schemas.microsoft.com/office/drawing/2014/main" id="{C309412C-733C-4D46-9228-95DBCA61D917}"/>
              </a:ext>
            </a:extLst>
          </p:cNvPr>
          <p:cNvGrpSpPr/>
          <p:nvPr/>
        </p:nvGrpSpPr>
        <p:grpSpPr>
          <a:xfrm>
            <a:off x="868680" y="1243584"/>
            <a:ext cx="10561320" cy="493776"/>
            <a:chOff x="868680" y="1243584"/>
            <a:chExt cx="10561320" cy="493776"/>
          </a:xfrm>
        </p:grpSpPr>
        <p:sp>
          <p:nvSpPr>
            <p:cNvPr id="6" name="Text 4"/>
            <p:cNvSpPr txBox="1"/>
            <p:nvPr/>
          </p:nvSpPr>
          <p:spPr>
            <a:xfrm>
              <a:off x="868680" y="1481328"/>
              <a:ext cx="2103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MODELO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3108960" y="1243584"/>
              <a:ext cx="21945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D62839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SÉRIE KPI (alvo)</a:t>
              </a:r>
              <a:endParaRPr 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5577840" y="1243584"/>
              <a:ext cx="23774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SÉRIE TOTAL (contexto)</a:t>
              </a:r>
              <a:endParaRPr lang="en-US" sz="10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3108960" y="1481328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D+1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4206240" y="1481328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D+7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5577840" y="1481328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D+1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6766560" y="1481328"/>
              <a:ext cx="1005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D+7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8138160" y="1481328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OBSERVAÇÃO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806F6F0C-ADA5-48EA-9C86-D2A43D16D7BD}"/>
              </a:ext>
            </a:extLst>
          </p:cNvPr>
          <p:cNvGrpSpPr/>
          <p:nvPr/>
        </p:nvGrpSpPr>
        <p:grpSpPr>
          <a:xfrm>
            <a:off x="685800" y="1810512"/>
            <a:ext cx="10835640" cy="493776"/>
            <a:chOff x="685800" y="1810512"/>
            <a:chExt cx="10835640" cy="493776"/>
          </a:xfrm>
        </p:grpSpPr>
        <p:sp>
          <p:nvSpPr>
            <p:cNvPr id="14" name="Shape 12"/>
            <p:cNvSpPr/>
            <p:nvPr/>
          </p:nvSpPr>
          <p:spPr>
            <a:xfrm>
              <a:off x="685800" y="1810512"/>
              <a:ext cx="10835640" cy="493776"/>
            </a:xfrm>
            <a:prstGeom prst="roundRect">
              <a:avLst>
                <a:gd name="adj" fmla="val 9259"/>
              </a:avLst>
            </a:prstGeom>
            <a:solidFill>
              <a:srgbClr val="FDF0F1"/>
            </a:solidFill>
            <a:ln w="12700">
              <a:solidFill>
                <a:srgbClr val="F0C2C5"/>
              </a:solidFill>
              <a:prstDash val="solid"/>
            </a:ln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868680" y="1929384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D62839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Prophet</a:t>
              </a:r>
              <a:endParaRPr lang="en-US" sz="1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3108960" y="1929384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13,2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4206240" y="1929384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13,3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5577840" y="1929384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157,9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6766560" y="1929384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199,0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8138160" y="1938528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escolhido p/ a série do KPI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7F21666F-6180-400D-86D6-B93E3B13A53A}"/>
              </a:ext>
            </a:extLst>
          </p:cNvPr>
          <p:cNvGrpSpPr/>
          <p:nvPr/>
        </p:nvGrpSpPr>
        <p:grpSpPr>
          <a:xfrm>
            <a:off x="685800" y="2436120"/>
            <a:ext cx="10835640" cy="493776"/>
            <a:chOff x="685800" y="2377440"/>
            <a:chExt cx="10835640" cy="493776"/>
          </a:xfrm>
        </p:grpSpPr>
        <p:sp>
          <p:nvSpPr>
            <p:cNvPr id="21" name="Shape 19"/>
            <p:cNvSpPr/>
            <p:nvPr/>
          </p:nvSpPr>
          <p:spPr>
            <a:xfrm>
              <a:off x="685800" y="2377440"/>
              <a:ext cx="10835640" cy="493776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2700">
              <a:solidFill>
                <a:srgbClr val="E8EDF3"/>
              </a:solidFill>
              <a:prstDash val="solid"/>
            </a:ln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868680" y="2496312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E1A2B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SARIMAX</a:t>
              </a:r>
              <a:endParaRPr lang="en-US" sz="1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3108960" y="2496312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12,3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4206240" y="2496312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15,0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5577840" y="2496312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116,3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6766560" y="2496312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133,8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8138160" y="2505456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vence no D+1 e na série total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9115EEF4-3AAE-4F88-97DE-F07B7DFC288A}"/>
              </a:ext>
            </a:extLst>
          </p:cNvPr>
          <p:cNvGrpSpPr/>
          <p:nvPr/>
        </p:nvGrpSpPr>
        <p:grpSpPr>
          <a:xfrm>
            <a:off x="685800" y="3061728"/>
            <a:ext cx="10835640" cy="493776"/>
            <a:chOff x="685800" y="2944368"/>
            <a:chExt cx="10835640" cy="493776"/>
          </a:xfrm>
        </p:grpSpPr>
        <p:sp>
          <p:nvSpPr>
            <p:cNvPr id="28" name="Shape 26"/>
            <p:cNvSpPr/>
            <p:nvPr/>
          </p:nvSpPr>
          <p:spPr>
            <a:xfrm>
              <a:off x="685800" y="2944368"/>
              <a:ext cx="10835640" cy="493776"/>
            </a:xfrm>
            <a:prstGeom prst="roundRect">
              <a:avLst>
                <a:gd name="adj" fmla="val 9259"/>
              </a:avLst>
            </a:prstGeom>
            <a:solidFill>
              <a:srgbClr val="F4F6F8"/>
            </a:solidFill>
            <a:ln w="12700">
              <a:solidFill>
                <a:srgbClr val="E8EDF3"/>
              </a:solidFill>
              <a:prstDash val="solid"/>
            </a:ln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868680" y="3063240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E1A2B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Baseline sazonal</a:t>
              </a:r>
              <a:endParaRPr lang="en-US" sz="1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3108960" y="306324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15,5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 29"/>
            <p:cNvSpPr txBox="1"/>
            <p:nvPr/>
          </p:nvSpPr>
          <p:spPr>
            <a:xfrm>
              <a:off x="4206240" y="306324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15,5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5577840" y="306324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151,1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6766560" y="306324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151,1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 32"/>
            <p:cNvSpPr txBox="1"/>
            <p:nvPr/>
          </p:nvSpPr>
          <p:spPr>
            <a:xfrm>
              <a:off x="8138160" y="3072384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referência obrigatória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797345E1-3252-4A7B-8713-05EEDFAA5BB5}"/>
              </a:ext>
            </a:extLst>
          </p:cNvPr>
          <p:cNvGrpSpPr/>
          <p:nvPr/>
        </p:nvGrpSpPr>
        <p:grpSpPr>
          <a:xfrm>
            <a:off x="685800" y="3687336"/>
            <a:ext cx="10835640" cy="493776"/>
            <a:chOff x="685800" y="3511296"/>
            <a:chExt cx="10835640" cy="493776"/>
          </a:xfrm>
        </p:grpSpPr>
        <p:sp>
          <p:nvSpPr>
            <p:cNvPr id="35" name="Shape 33"/>
            <p:cNvSpPr/>
            <p:nvPr/>
          </p:nvSpPr>
          <p:spPr>
            <a:xfrm>
              <a:off x="685800" y="3511296"/>
              <a:ext cx="10835640" cy="493776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2700">
              <a:solidFill>
                <a:srgbClr val="E8EDF3"/>
              </a:solidFill>
              <a:prstDash val="solid"/>
            </a:ln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868680" y="3630168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E1A2B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GradientBoosting</a:t>
              </a:r>
              <a:endParaRPr lang="en-US" sz="1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 35"/>
            <p:cNvSpPr txBox="1"/>
            <p:nvPr/>
          </p:nvSpPr>
          <p:spPr>
            <a:xfrm>
              <a:off x="3108960" y="3630168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14,1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4206240" y="3630168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21,8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 37"/>
            <p:cNvSpPr txBox="1"/>
            <p:nvPr/>
          </p:nvSpPr>
          <p:spPr>
            <a:xfrm>
              <a:off x="5577840" y="3630168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134,4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 38"/>
            <p:cNvSpPr txBox="1"/>
            <p:nvPr/>
          </p:nvSpPr>
          <p:spPr>
            <a:xfrm>
              <a:off x="6766560" y="3630168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117,6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8138160" y="3639312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abaixo da baseline no KPI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4F2EE8B-E6F1-49E2-B201-0982EA22909D}"/>
              </a:ext>
            </a:extLst>
          </p:cNvPr>
          <p:cNvGrpSpPr/>
          <p:nvPr/>
        </p:nvGrpSpPr>
        <p:grpSpPr>
          <a:xfrm>
            <a:off x="685800" y="4312944"/>
            <a:ext cx="10835640" cy="493776"/>
            <a:chOff x="685800" y="4078224"/>
            <a:chExt cx="10835640" cy="493776"/>
          </a:xfrm>
        </p:grpSpPr>
        <p:sp>
          <p:nvSpPr>
            <p:cNvPr id="42" name="Shape 40"/>
            <p:cNvSpPr/>
            <p:nvPr/>
          </p:nvSpPr>
          <p:spPr>
            <a:xfrm>
              <a:off x="685800" y="4078224"/>
              <a:ext cx="10835640" cy="493776"/>
            </a:xfrm>
            <a:prstGeom prst="roundRect">
              <a:avLst>
                <a:gd name="adj" fmla="val 9259"/>
              </a:avLst>
            </a:prstGeom>
            <a:solidFill>
              <a:srgbClr val="F4F6F8"/>
            </a:solidFill>
            <a:ln w="12700">
              <a:solidFill>
                <a:srgbClr val="E8EDF3"/>
              </a:solidFill>
              <a:prstDash val="solid"/>
            </a:ln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 41"/>
            <p:cNvSpPr txBox="1"/>
            <p:nvPr/>
          </p:nvSpPr>
          <p:spPr>
            <a:xfrm>
              <a:off x="868680" y="4197096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E1A2B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CatBoost</a:t>
              </a:r>
              <a:endParaRPr lang="en-US" sz="1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 42"/>
            <p:cNvSpPr txBox="1"/>
            <p:nvPr/>
          </p:nvSpPr>
          <p:spPr>
            <a:xfrm>
              <a:off x="3108960" y="4197096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17,0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 43"/>
            <p:cNvSpPr txBox="1"/>
            <p:nvPr/>
          </p:nvSpPr>
          <p:spPr>
            <a:xfrm>
              <a:off x="4206240" y="4197096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21,8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 44"/>
            <p:cNvSpPr txBox="1"/>
            <p:nvPr/>
          </p:nvSpPr>
          <p:spPr>
            <a:xfrm>
              <a:off x="5577840" y="4197096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142,7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 45"/>
            <p:cNvSpPr txBox="1"/>
            <p:nvPr/>
          </p:nvSpPr>
          <p:spPr>
            <a:xfrm>
              <a:off x="6766560" y="4197096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242,5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 46"/>
            <p:cNvSpPr txBox="1"/>
            <p:nvPr/>
          </p:nvSpPr>
          <p:spPr>
            <a:xfrm>
              <a:off x="8138160" y="4206240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abaixo da baseline no KPI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67A0CE0C-6173-41F9-9830-5EF1BA8A0571}"/>
              </a:ext>
            </a:extLst>
          </p:cNvPr>
          <p:cNvGrpSpPr/>
          <p:nvPr/>
        </p:nvGrpSpPr>
        <p:grpSpPr>
          <a:xfrm>
            <a:off x="685800" y="4938554"/>
            <a:ext cx="10835640" cy="493776"/>
            <a:chOff x="685800" y="4645152"/>
            <a:chExt cx="10835640" cy="493776"/>
          </a:xfrm>
        </p:grpSpPr>
        <p:sp>
          <p:nvSpPr>
            <p:cNvPr id="49" name="Shape 47"/>
            <p:cNvSpPr/>
            <p:nvPr/>
          </p:nvSpPr>
          <p:spPr>
            <a:xfrm>
              <a:off x="685800" y="4645152"/>
              <a:ext cx="10835640" cy="493776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2700">
              <a:solidFill>
                <a:srgbClr val="E8EDF3"/>
              </a:solidFill>
              <a:prstDash val="solid"/>
            </a:ln>
          </p:spPr>
          <p:txBody>
            <a:bodyPr/>
            <a:lstStyle/>
            <a:p>
              <a:endParaRPr lang="pt-B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 48"/>
            <p:cNvSpPr txBox="1"/>
            <p:nvPr/>
          </p:nvSpPr>
          <p:spPr>
            <a:xfrm>
              <a:off x="868680" y="4764024"/>
              <a:ext cx="2103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E1A2B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SVR</a:t>
              </a:r>
              <a:endParaRPr lang="en-US" sz="12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 49"/>
            <p:cNvSpPr txBox="1"/>
            <p:nvPr/>
          </p:nvSpPr>
          <p:spPr>
            <a:xfrm>
              <a:off x="3108960" y="4764024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19,5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 50"/>
            <p:cNvSpPr txBox="1"/>
            <p:nvPr/>
          </p:nvSpPr>
          <p:spPr>
            <a:xfrm>
              <a:off x="4206240" y="4764024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B243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27,9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 51"/>
            <p:cNvSpPr txBox="1"/>
            <p:nvPr/>
          </p:nvSpPr>
          <p:spPr>
            <a:xfrm>
              <a:off x="5577840" y="4764024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161,8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 52"/>
            <p:cNvSpPr txBox="1"/>
            <p:nvPr/>
          </p:nvSpPr>
          <p:spPr>
            <a:xfrm>
              <a:off x="6766560" y="4764024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238,8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 53"/>
            <p:cNvSpPr txBox="1"/>
            <p:nvPr/>
          </p:nvSpPr>
          <p:spPr>
            <a:xfrm>
              <a:off x="8138160" y="4773168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5A6472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não extrapola nível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6" name="Text 54"/>
          <p:cNvSpPr txBox="1"/>
          <p:nvPr/>
        </p:nvSpPr>
        <p:spPr>
          <a:xfrm>
            <a:off x="685800" y="6153514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D6283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Resultado</a:t>
            </a:r>
            <a:r>
              <a:rPr lang="en-US" sz="1250" b="1" dirty="0">
                <a:solidFill>
                  <a:srgbClr val="D6283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Prophet vence no KPI, SARIMAX vence no total. A estrutura da série decide o modelo.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C30E99E6-D78A-4F2A-8300-ACDB5A97F77C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66" name="Agrupar 65">
              <a:extLst>
                <a:ext uri="{FF2B5EF4-FFF2-40B4-BE49-F238E27FC236}">
                  <a16:creationId xmlns:a16="http://schemas.microsoft.com/office/drawing/2014/main" id="{847F6162-1CE5-4300-8C68-FF6B7A9A388C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68" name="Shape 0">
                <a:extLst>
                  <a:ext uri="{FF2B5EF4-FFF2-40B4-BE49-F238E27FC236}">
                    <a16:creationId xmlns:a16="http://schemas.microsoft.com/office/drawing/2014/main" id="{CBB0FD84-F0D9-49F5-B76C-10EFFA659E58}"/>
                  </a:ext>
                </a:extLst>
              </p:cNvPr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" name="Text 1">
                <a:extLst>
                  <a:ext uri="{FF2B5EF4-FFF2-40B4-BE49-F238E27FC236}">
                    <a16:creationId xmlns:a16="http://schemas.microsoft.com/office/drawing/2014/main" id="{F4A5B81F-F141-456E-B18C-631F8C4B4B6F}"/>
                  </a:ext>
                </a:extLst>
              </p:cNvPr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10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" name="Text 2">
              <a:extLst>
                <a:ext uri="{FF2B5EF4-FFF2-40B4-BE49-F238E27FC236}">
                  <a16:creationId xmlns:a16="http://schemas.microsoft.com/office/drawing/2014/main" id="{0280BDE0-9732-452E-B924-0033A71D4FE2}"/>
                </a:ext>
              </a:extLst>
            </p:cNvPr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Tabela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de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experimentos</a:t>
              </a:r>
              <a:endParaRPr lang="pt-BR" sz="30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int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93581"/>
            <a:ext cx="7239684" cy="4032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Shape 5"/>
          <p:cNvSpPr/>
          <p:nvPr/>
        </p:nvSpPr>
        <p:spPr>
          <a:xfrm>
            <a:off x="8031480" y="1493581"/>
            <a:ext cx="3657600" cy="4032504"/>
          </a:xfrm>
          <a:prstGeom prst="roundRect">
            <a:avLst>
              <a:gd name="adj" fmla="val 2000"/>
            </a:avLst>
          </a:prstGeom>
          <a:solidFill>
            <a:srgbClr val="0E1A2B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305800" y="158701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D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 que este print comprova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8305800" y="1961914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assert que falha o notebook
</a:t>
            </a:r>
            <a:r>
              <a:rPr lang="en-US" sz="1150" dirty="0">
                <a:solidFill>
                  <a:srgbClr val="DCE4E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 uma variável pós-fato entrar entre as features, a execução para. Não é comentário — é trava.
</a:t>
            </a:r>
            <a:r>
              <a:rPr lang="en-US" sz="11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Nenhuma correlação suspeita
</a:t>
            </a:r>
            <a:r>
              <a:rPr lang="en-US" sz="1150" dirty="0">
                <a:solidFill>
                  <a:srgbClr val="DCE4E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maior é dow_sin com 0,576. Nada perto de 1,0.
</a:t>
            </a:r>
            <a:r>
              <a:rPr lang="en-US" sz="11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Sem sobreposição temporal
</a:t>
            </a:r>
            <a:r>
              <a:rPr lang="en-US" sz="1150" dirty="0">
                <a:solidFill>
                  <a:srgbClr val="DCE4E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Treino termina 31/10, teste começa 01/11.
</a:t>
            </a:r>
            <a:r>
              <a:rPr lang="en-US" sz="115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 custo do split errado, medido
</a:t>
            </a:r>
            <a:r>
              <a:rPr lang="en-US" sz="1150" dirty="0">
                <a:solidFill>
                  <a:srgbClr val="DCE4E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Split aleatório aparenta MAE 12,50 contra 14,04 do temporal: 11% de ganho falso, documentado em vez de escondido.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82E1BDB-023F-44A6-A6FE-983D7EF3CA71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90AAF074-60A7-43E4-8D87-89058F1FD735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16" name="Shape 0">
                <a:extLst>
                  <a:ext uri="{FF2B5EF4-FFF2-40B4-BE49-F238E27FC236}">
                    <a16:creationId xmlns:a16="http://schemas.microsoft.com/office/drawing/2014/main" id="{59CB9071-2FAC-4662-9884-5CDCA8350BE1}"/>
                  </a:ext>
                </a:extLst>
              </p:cNvPr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Text 1">
                <a:extLst>
                  <a:ext uri="{FF2B5EF4-FFF2-40B4-BE49-F238E27FC236}">
                    <a16:creationId xmlns:a16="http://schemas.microsoft.com/office/drawing/2014/main" id="{ADC2F3DA-37E6-4A4F-97A2-960D11869914}"/>
                  </a:ext>
                </a:extLst>
              </p:cNvPr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11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4FED9DC5-720D-48DE-9975-50937278A741}"/>
                </a:ext>
              </a:extLst>
            </p:cNvPr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Evidências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do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processo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– prints do notebook</a:t>
              </a:r>
              <a:endParaRPr lang="pt-BR" sz="30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int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1232366"/>
            <a:ext cx="5317435" cy="41316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Shape 6"/>
          <p:cNvSpPr/>
          <p:nvPr/>
        </p:nvSpPr>
        <p:spPr>
          <a:xfrm>
            <a:off x="6309360" y="4480560"/>
            <a:ext cx="5212080" cy="1188720"/>
          </a:xfrm>
          <a:prstGeom prst="roundRect">
            <a:avLst>
              <a:gd name="adj" fmla="val 5085"/>
            </a:avLst>
          </a:prstGeom>
          <a:solidFill>
            <a:srgbClr val="FDF0F1"/>
          </a:solidFill>
          <a:ln w="12700">
            <a:solidFill>
              <a:srgbClr val="F0C2C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7"/>
          <p:cNvSpPr txBox="1"/>
          <p:nvPr/>
        </p:nvSpPr>
        <p:spPr>
          <a:xfrm>
            <a:off x="6537960" y="45902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D62839"/>
                </a:solidFill>
                <a:latin typeface="Calibri"/>
              </a:rPr>
              <a:t>O mesmo modelo, 28% “melhor” — e falso.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000" b="0">
                <a:solidFill>
                  <a:srgbClr val="1B2430"/>
                </a:solidFill>
                <a:latin typeface="Calibri"/>
              </a:rPr>
              <a:t>Mesmas features, mesmo algoritmo. Muda só a divisão: o split aleatório treina com dias posteriores aos de teste, ou seja, aprende o futuro para prever o passado.</a:t>
            </a:r>
          </a:p>
          <a:p>
            <a:r>
              <a:rPr sz="1000" b="1">
                <a:solidFill>
                  <a:srgbClr val="1B2430"/>
                </a:solidFill>
                <a:latin typeface="Calibri"/>
              </a:rPr>
              <a:t>MAE 11,74 contra 16,26 do temporal. Reportamos o pior número porque é o único que existiria em produção.</a:t>
            </a:r>
          </a:p>
        </p:txBody>
      </p:sp>
      <p:sp>
        <p:nvSpPr>
          <p:cNvPr id="12" name="Shape 8"/>
          <p:cNvSpPr/>
          <p:nvPr/>
        </p:nvSpPr>
        <p:spPr>
          <a:xfrm>
            <a:off x="685800" y="5852160"/>
            <a:ext cx="10835640" cy="603504"/>
          </a:xfrm>
          <a:prstGeom prst="roundRect">
            <a:avLst>
              <a:gd name="adj" fmla="val 9091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9"/>
          <p:cNvSpPr txBox="1"/>
          <p:nvPr/>
        </p:nvSpPr>
        <p:spPr>
          <a:xfrm>
            <a:off x="960120" y="5971032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200" b="1" dirty="0">
                <a:solidFill>
                  <a:srgbClr val="D62839"/>
                </a:solidFill>
              </a:rPr>
              <a:t>Versionamento: </a:t>
            </a:r>
            <a:r>
              <a:rPr lang="pt-BR" sz="1200" dirty="0">
                <a:solidFill>
                  <a:srgbClr val="1B2430"/>
                </a:solidFill>
              </a:rPr>
              <a:t>dois notebooks executados de ponta a ponta — </a:t>
            </a:r>
            <a:r>
              <a:rPr lang="pt-BR" sz="1200" b="1" u="sng" dirty="0">
                <a:solidFill>
                  <a:srgbClr val="1F5CA8"/>
                </a:solidFill>
                <a:hlinkClick r:id="rId4"/>
              </a:rPr>
              <a:t>entrega final</a:t>
            </a:r>
            <a:r>
              <a:rPr lang="pt-BR" sz="1200" dirty="0">
                <a:solidFill>
                  <a:srgbClr val="1B2430"/>
                </a:solidFill>
              </a:rPr>
              <a:t> (20 células, pipeline de produção) e </a:t>
            </a:r>
            <a:r>
              <a:rPr lang="pt-BR" sz="1200" b="1" u="sng" dirty="0">
                <a:solidFill>
                  <a:srgbClr val="1F5CA8"/>
                </a:solidFill>
                <a:hlinkClick r:id="rId5"/>
              </a:rPr>
              <a:t>caderno de estudos</a:t>
            </a:r>
            <a:r>
              <a:rPr lang="pt-BR" sz="1200" dirty="0">
                <a:solidFill>
                  <a:srgbClr val="1B2430"/>
                </a:solidFill>
              </a:rPr>
              <a:t> (31 células, 8 experimentos, incluindo o de controle acima) — mais os </a:t>
            </a:r>
            <a:r>
              <a:rPr lang="pt-BR" sz="1200" dirty="0" err="1">
                <a:solidFill>
                  <a:srgbClr val="1B2430"/>
                </a:solidFill>
              </a:rPr>
              <a:t>CSVs</a:t>
            </a:r>
            <a:r>
              <a:rPr lang="pt-BR" sz="1200" dirty="0">
                <a:solidFill>
                  <a:srgbClr val="1B2430"/>
                </a:solidFill>
              </a:rPr>
              <a:t> de saída com dicionário de colunas.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7DEC57D-4A07-4FE0-84EE-81C63FB58FD8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2EFD07DA-5A74-4AB3-8596-CE67519720EE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17" name="Shape 0">
                <a:extLst>
                  <a:ext uri="{FF2B5EF4-FFF2-40B4-BE49-F238E27FC236}">
                    <a16:creationId xmlns:a16="http://schemas.microsoft.com/office/drawing/2014/main" id="{6EDC3133-E415-472D-B18B-730CA8DB1818}"/>
                  </a:ext>
                </a:extLst>
              </p:cNvPr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Text 1">
                <a:extLst>
                  <a:ext uri="{FF2B5EF4-FFF2-40B4-BE49-F238E27FC236}">
                    <a16:creationId xmlns:a16="http://schemas.microsoft.com/office/drawing/2014/main" id="{EEFFB2BB-A877-41C6-8E03-27B0771C099F}"/>
                  </a:ext>
                </a:extLst>
              </p:cNvPr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12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Text 2">
              <a:extLst>
                <a:ext uri="{FF2B5EF4-FFF2-40B4-BE49-F238E27FC236}">
                  <a16:creationId xmlns:a16="http://schemas.microsoft.com/office/drawing/2014/main" id="{E30B21F0-9E2D-406D-8DF1-70EBE98BB32D}"/>
                </a:ext>
              </a:extLst>
            </p:cNvPr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Reprodutibilidade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–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configuração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e features</a:t>
              </a:r>
              <a:endParaRPr lang="pt-BR" sz="30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9" name="Picture 18" descr="print_spl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232367"/>
            <a:ext cx="5212080" cy="29760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685800" y="1508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41832" y="1764792"/>
            <a:ext cx="310896" cy="310896"/>
          </a:xfrm>
          <a:prstGeom prst="ellipse">
            <a:avLst/>
          </a:prstGeom>
          <a:solidFill>
            <a:srgbClr val="2EC4D8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371600" y="17282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Sem viés, mas com teto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60120" y="2258568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Os resíduos têm média próxima de zero — sem viés sistemático. Mas ainda mostram estrutura, indicando relação não puramente linear entre features e volume.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99432" y="1764792"/>
            <a:ext cx="310896" cy="310896"/>
          </a:xfrm>
          <a:prstGeom prst="ellipse">
            <a:avLst/>
          </a:prstGeom>
          <a:solidFill>
            <a:srgbClr val="D62839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029200" y="17282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Underfitting nas árvores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617720" y="2258568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CatBoost, SVR e Gradient Boosting ficaram ABAIXO da baseline. A curva de aprendizado ainda sobe quando os dados acabam: 274 dias para 27 features.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01000" y="15087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257032" y="1764792"/>
            <a:ext cx="310896" cy="310896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686800" y="17282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A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Desbalanceamento severo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75320" y="2258568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Violação de KPI ocorre em 1% dos casos. Mesmo com auto_class_weights, o Recall fica em 0.20 — o modelo ordena bem, mas classificar no limiar ainda perde casos.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" y="3977640"/>
            <a:ext cx="10835640" cy="2194560"/>
          </a:xfrm>
          <a:prstGeom prst="roundRect">
            <a:avLst>
              <a:gd name="adj" fmla="val 3721"/>
            </a:avLst>
          </a:prstGeom>
          <a:solidFill>
            <a:srgbClr val="0E1A2B"/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6012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D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leitura que orienta a Sprint 4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60120" y="4526280"/>
            <a:ext cx="10287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4E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 features de calendário são as mais valiosas — capturam o padrão mais forte da série, são conhecidas com antecedência infinita e não podem vazar. Num sistema de produção, essa propriedade vale tanto quanto poder preditivo.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4E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Modelos flexíveis perderam para modelos com estrutura imposta. Com poucos dados, restringir o espaço de hipóteses vence aprendizado livre.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4E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flag oficial de violação de KPI não reproduz a regra documentada: 3.020 incidentes excedem o limite sem marcação. Rótulo a validar com a Locaweb.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9073817F-C296-4002-B53F-B0B33926C78E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75592CC1-F163-4635-87DC-7CABCFFC26DA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24" name="Shape 0">
                <a:extLst>
                  <a:ext uri="{FF2B5EF4-FFF2-40B4-BE49-F238E27FC236}">
                    <a16:creationId xmlns:a16="http://schemas.microsoft.com/office/drawing/2014/main" id="{4FC2CAE8-6413-4CC6-97FE-452622DB4C5A}"/>
                  </a:ext>
                </a:extLst>
              </p:cNvPr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Text 1">
                <a:extLst>
                  <a:ext uri="{FF2B5EF4-FFF2-40B4-BE49-F238E27FC236}">
                    <a16:creationId xmlns:a16="http://schemas.microsoft.com/office/drawing/2014/main" id="{1D15139A-A025-40BD-8A3A-F7A86692EFC8}"/>
                  </a:ext>
                </a:extLst>
              </p:cNvPr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13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Text 2">
              <a:extLst>
                <a:ext uri="{FF2B5EF4-FFF2-40B4-BE49-F238E27FC236}">
                  <a16:creationId xmlns:a16="http://schemas.microsoft.com/office/drawing/2014/main" id="{7B380ACA-470D-4FFE-8CB2-C582D0796046}"/>
                </a:ext>
              </a:extLst>
            </p:cNvPr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Interpretação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do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resultado</a:t>
              </a:r>
              <a:endParaRPr lang="pt-BR" sz="30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Agrupar 43">
            <a:extLst>
              <a:ext uri="{FF2B5EF4-FFF2-40B4-BE49-F238E27FC236}">
                <a16:creationId xmlns:a16="http://schemas.microsoft.com/office/drawing/2014/main" id="{9B15AFEE-6CD7-44FE-B00F-9115D209A4FE}"/>
              </a:ext>
            </a:extLst>
          </p:cNvPr>
          <p:cNvGrpSpPr/>
          <p:nvPr/>
        </p:nvGrpSpPr>
        <p:grpSpPr>
          <a:xfrm>
            <a:off x="685800" y="1205425"/>
            <a:ext cx="10927080" cy="1965960"/>
            <a:chOff x="685800" y="1138428"/>
            <a:chExt cx="10927080" cy="1965960"/>
          </a:xfrm>
        </p:grpSpPr>
        <p:sp>
          <p:nvSpPr>
            <p:cNvPr id="6" name="Shape 4"/>
            <p:cNvSpPr/>
            <p:nvPr/>
          </p:nvSpPr>
          <p:spPr>
            <a:xfrm>
              <a:off x="685800" y="1138428"/>
              <a:ext cx="3520440" cy="1965960"/>
            </a:xfrm>
            <a:prstGeom prst="roundRect">
              <a:avLst>
                <a:gd name="adj" fmla="val 3721"/>
              </a:avLst>
            </a:prstGeom>
            <a:solidFill>
              <a:srgbClr val="F4F6F8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941832" y="1394460"/>
              <a:ext cx="384048" cy="384048"/>
            </a:xfrm>
            <a:prstGeom prst="ellipse">
              <a:avLst/>
            </a:prstGeom>
            <a:solidFill>
              <a:srgbClr val="D62839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941832" y="139446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960120" y="1888236"/>
              <a:ext cx="2971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E1A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Dados</a:t>
              </a:r>
              <a:endParaRPr lang="en-US" sz="15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960120" y="2235708"/>
              <a:ext cx="29718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pt-BR" sz="1200" dirty="0"/>
                <a:t>Cadastrar recesso, feriados e janelas de manutenção como variável: é o que faltou para o modelo não errar dezembro.</a:t>
              </a:r>
              <a:endParaRPr lang="en-US" sz="12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389120" y="1138428"/>
              <a:ext cx="3520440" cy="1965960"/>
            </a:xfrm>
            <a:prstGeom prst="roundRect">
              <a:avLst>
                <a:gd name="adj" fmla="val 3721"/>
              </a:avLst>
            </a:prstGeom>
            <a:solidFill>
              <a:srgbClr val="F4F6F8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645152" y="1394460"/>
              <a:ext cx="384048" cy="384048"/>
            </a:xfrm>
            <a:prstGeom prst="ellipse">
              <a:avLst/>
            </a:prstGeom>
            <a:solidFill>
              <a:srgbClr val="2EC4D8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4645152" y="139446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4663440" y="1888236"/>
              <a:ext cx="2971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E1A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Features</a:t>
              </a:r>
              <a:endParaRPr lang="en-US" sz="1500" dirty="0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4663440" y="2235708"/>
              <a:ext cx="29718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200" dirty="0">
                  <a:solidFill>
                    <a:srgbClr val="1B24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Criar variáveis por recorte (produto, categoria) além das agregadas</a:t>
              </a:r>
              <a:endParaRPr lang="en-US" sz="1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8092440" y="1138428"/>
              <a:ext cx="3520440" cy="1965960"/>
            </a:xfrm>
            <a:prstGeom prst="roundRect">
              <a:avLst>
                <a:gd name="adj" fmla="val 3721"/>
              </a:avLst>
            </a:prstGeom>
            <a:solidFill>
              <a:srgbClr val="F4F6F8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348472" y="1394460"/>
              <a:ext cx="384048" cy="384048"/>
            </a:xfrm>
            <a:prstGeom prst="ellipse">
              <a:avLst/>
            </a:prstGeom>
            <a:solidFill>
              <a:srgbClr val="0E1A2B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8348472" y="139446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8366760" y="1888236"/>
              <a:ext cx="2971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E1A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Modelos</a:t>
              </a:r>
              <a:endParaRPr lang="en-US" sz="150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8366760" y="2235708"/>
              <a:ext cx="29718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200" dirty="0">
                  <a:solidFill>
                    <a:srgbClr val="1B24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Ajuste fino do Prophet e teste de painel multi-série com modelos de árvore</a:t>
              </a:r>
              <a:endParaRPr lang="en-US" sz="1200" dirty="0"/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79EA2AC3-AA95-45EE-8918-A5C5B506E8F6}"/>
              </a:ext>
            </a:extLst>
          </p:cNvPr>
          <p:cNvGrpSpPr/>
          <p:nvPr/>
        </p:nvGrpSpPr>
        <p:grpSpPr>
          <a:xfrm>
            <a:off x="685800" y="3510504"/>
            <a:ext cx="10927080" cy="1965960"/>
            <a:chOff x="685800" y="3536354"/>
            <a:chExt cx="10927080" cy="1965960"/>
          </a:xfrm>
        </p:grpSpPr>
        <p:sp>
          <p:nvSpPr>
            <p:cNvPr id="21" name="Shape 19"/>
            <p:cNvSpPr/>
            <p:nvPr/>
          </p:nvSpPr>
          <p:spPr>
            <a:xfrm>
              <a:off x="685800" y="3536354"/>
              <a:ext cx="3520440" cy="1965960"/>
            </a:xfrm>
            <a:prstGeom prst="roundRect">
              <a:avLst>
                <a:gd name="adj" fmla="val 3721"/>
              </a:avLst>
            </a:prstGeom>
            <a:solidFill>
              <a:srgbClr val="F4F6F8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941832" y="3792386"/>
              <a:ext cx="384048" cy="384048"/>
            </a:xfrm>
            <a:prstGeom prst="ellipse">
              <a:avLst/>
            </a:prstGeom>
            <a:solidFill>
              <a:srgbClr val="6C7A89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941832" y="379238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960120" y="4286162"/>
              <a:ext cx="2971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E1A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Balanceamento</a:t>
              </a:r>
              <a:endParaRPr lang="en-US" sz="150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960120" y="4633634"/>
              <a:ext cx="29718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200" dirty="0">
                  <a:solidFill>
                    <a:srgbClr val="1B24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Ajuste de limiar por custo operacional e reamostragem da classe rara</a:t>
              </a:r>
              <a:endParaRPr lang="en-US" sz="12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389120" y="3536354"/>
              <a:ext cx="3520440" cy="1965960"/>
            </a:xfrm>
            <a:prstGeom prst="roundRect">
              <a:avLst>
                <a:gd name="adj" fmla="val 3721"/>
              </a:avLst>
            </a:prstGeom>
            <a:solidFill>
              <a:srgbClr val="F4F6F8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645152" y="3792386"/>
              <a:ext cx="384048" cy="384048"/>
            </a:xfrm>
            <a:prstGeom prst="ellipse">
              <a:avLst/>
            </a:prstGeom>
            <a:solidFill>
              <a:srgbClr val="D62839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8" name="Text 26"/>
            <p:cNvSpPr txBox="1"/>
            <p:nvPr/>
          </p:nvSpPr>
          <p:spPr>
            <a:xfrm>
              <a:off x="4645152" y="379238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400" dirty="0"/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4663440" y="4286162"/>
              <a:ext cx="2971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E1A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Explicabilidade</a:t>
              </a:r>
              <a:endParaRPr lang="en-US" sz="1500" dirty="0"/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4663440" y="4633634"/>
              <a:ext cx="29718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200" dirty="0">
                  <a:solidFill>
                    <a:srgbClr val="1B24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Hoje o modelo aponta o risco, mas não diz por quê. SHAP mostra quanto produto, categoria e horário pesaram em cada previsão.</a:t>
              </a:r>
              <a:endParaRPr lang="en-US" sz="12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8092440" y="3536354"/>
              <a:ext cx="3520440" cy="1965960"/>
            </a:xfrm>
            <a:prstGeom prst="roundRect">
              <a:avLst>
                <a:gd name="adj" fmla="val 3721"/>
              </a:avLst>
            </a:prstGeom>
            <a:solidFill>
              <a:srgbClr val="F4F6F8"/>
            </a:solidFill>
            <a:ln w="12700">
              <a:solidFill>
                <a:srgbClr val="E2E7EC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348472" y="3792386"/>
              <a:ext cx="384048" cy="384048"/>
            </a:xfrm>
            <a:prstGeom prst="ellipse">
              <a:avLst/>
            </a:prstGeom>
            <a:solidFill>
              <a:srgbClr val="2EC4D8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8348472" y="379238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1400" dirty="0"/>
            </a:p>
          </p:txBody>
        </p:sp>
        <p:sp>
          <p:nvSpPr>
            <p:cNvPr id="34" name="Text 32"/>
            <p:cNvSpPr txBox="1"/>
            <p:nvPr/>
          </p:nvSpPr>
          <p:spPr>
            <a:xfrm>
              <a:off x="8366760" y="4286162"/>
              <a:ext cx="2971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E1A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Entrega</a:t>
              </a:r>
              <a:endParaRPr lang="en-US" sz="1500" dirty="0"/>
            </a:p>
          </p:txBody>
        </p:sp>
        <p:sp>
          <p:nvSpPr>
            <p:cNvPr id="35" name="Text 33"/>
            <p:cNvSpPr txBox="1"/>
            <p:nvPr/>
          </p:nvSpPr>
          <p:spPr>
            <a:xfrm>
              <a:off x="8366760" y="4633634"/>
              <a:ext cx="29718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200" dirty="0">
                  <a:solidFill>
                    <a:srgbClr val="1B24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Pipeline recorrente em nuvem alimentando o Power BI</a:t>
              </a:r>
              <a:endParaRPr lang="en-US" sz="1200" dirty="0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1EC0AD60-71DA-4F16-9C9B-7D60B893977A}"/>
              </a:ext>
            </a:extLst>
          </p:cNvPr>
          <p:cNvGrpSpPr/>
          <p:nvPr/>
        </p:nvGrpSpPr>
        <p:grpSpPr>
          <a:xfrm>
            <a:off x="685800" y="5815584"/>
            <a:ext cx="10835640" cy="640080"/>
            <a:chOff x="685800" y="5815584"/>
            <a:chExt cx="10835640" cy="640080"/>
          </a:xfrm>
        </p:grpSpPr>
        <p:sp>
          <p:nvSpPr>
            <p:cNvPr id="36" name="Shape 34"/>
            <p:cNvSpPr/>
            <p:nvPr/>
          </p:nvSpPr>
          <p:spPr>
            <a:xfrm>
              <a:off x="685800" y="5815584"/>
              <a:ext cx="10835640" cy="640080"/>
            </a:xfrm>
            <a:prstGeom prst="roundRect">
              <a:avLst>
                <a:gd name="adj" fmla="val 8571"/>
              </a:avLst>
            </a:prstGeom>
            <a:solidFill>
              <a:srgbClr val="E9F6EF"/>
            </a:solidFill>
            <a:ln w="12700">
              <a:solidFill>
                <a:srgbClr val="BFE3D0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37" name="Text 35"/>
            <p:cNvSpPr txBox="1"/>
            <p:nvPr/>
          </p:nvSpPr>
          <p:spPr>
            <a:xfrm>
              <a:off x="960120" y="5943600"/>
              <a:ext cx="10287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1D7A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STATUS DA MODELAGEM  </a:t>
              </a:r>
              <a:r>
                <a:rPr lang="en-US" sz="1200" dirty="0">
                  <a:solidFill>
                    <a:srgbClr val="1B24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Pipeline completo e funcional de ponta a ponta: previsão de volume D+1/D+7, classificação de risco de OLA e agrupamento por NLP — os três validados contra baseline, com métricas reais e sem vazamento.</a:t>
              </a:r>
              <a:endParaRPr lang="en-US" sz="1150" dirty="0"/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83579308-ECE4-40B5-8073-BFC143368D6A}"/>
              </a:ext>
            </a:extLst>
          </p:cNvPr>
          <p:cNvGrpSpPr/>
          <p:nvPr/>
        </p:nvGrpSpPr>
        <p:grpSpPr>
          <a:xfrm>
            <a:off x="502920" y="281090"/>
            <a:ext cx="10702756" cy="585216"/>
            <a:chOff x="502920" y="281090"/>
            <a:chExt cx="10702756" cy="585216"/>
          </a:xfrm>
        </p:grpSpPr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0A1DC8EA-E161-4B51-A596-4863D4ED6DFC}"/>
                </a:ext>
              </a:extLst>
            </p:cNvPr>
            <p:cNvGrpSpPr/>
            <p:nvPr/>
          </p:nvGrpSpPr>
          <p:grpSpPr>
            <a:xfrm>
              <a:off x="502920" y="281090"/>
              <a:ext cx="566928" cy="585216"/>
              <a:chOff x="502920" y="365760"/>
              <a:chExt cx="566928" cy="585216"/>
            </a:xfrm>
          </p:grpSpPr>
          <p:sp>
            <p:nvSpPr>
              <p:cNvPr id="41" name="Shape 0">
                <a:extLst>
                  <a:ext uri="{FF2B5EF4-FFF2-40B4-BE49-F238E27FC236}">
                    <a16:creationId xmlns:a16="http://schemas.microsoft.com/office/drawing/2014/main" id="{28001BF1-E3C9-4B5C-B41D-D25F32413B4D}"/>
                  </a:ext>
                </a:extLst>
              </p:cNvPr>
              <p:cNvSpPr/>
              <p:nvPr/>
            </p:nvSpPr>
            <p:spPr>
              <a:xfrm>
                <a:off x="502920" y="384048"/>
                <a:ext cx="566928" cy="566928"/>
              </a:xfrm>
              <a:prstGeom prst="ellipse">
                <a:avLst/>
              </a:prstGeom>
              <a:solidFill>
                <a:srgbClr val="D62839"/>
              </a:solidFill>
              <a:ln/>
            </p:spPr>
            <p:txBody>
              <a:bodyPr/>
              <a:lstStyle/>
              <a:p>
                <a:endParaRPr lang="pt-BR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Text 1">
                <a:extLst>
                  <a:ext uri="{FF2B5EF4-FFF2-40B4-BE49-F238E27FC236}">
                    <a16:creationId xmlns:a16="http://schemas.microsoft.com/office/drawing/2014/main" id="{A9209E72-8277-4426-BBCA-4D9B3D43F7ED}"/>
                  </a:ext>
                </a:extLst>
              </p:cNvPr>
              <p:cNvSpPr txBox="1"/>
              <p:nvPr/>
            </p:nvSpPr>
            <p:spPr>
              <a:xfrm>
                <a:off x="502920" y="365760"/>
                <a:ext cx="566928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14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" name="Text 2">
              <a:extLst>
                <a:ext uri="{FF2B5EF4-FFF2-40B4-BE49-F238E27FC236}">
                  <a16:creationId xmlns:a16="http://schemas.microsoft.com/office/drawing/2014/main" id="{AB05E161-BD9E-4C54-8FEA-8D69AC2DA2AF}"/>
                </a:ext>
              </a:extLst>
            </p:cNvPr>
            <p:cNvSpPr txBox="1"/>
            <p:nvPr/>
          </p:nvSpPr>
          <p:spPr>
            <a:xfrm>
              <a:off x="1234440" y="322238"/>
              <a:ext cx="997123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Status da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modelagem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e </a:t>
              </a:r>
              <a:r>
                <a:rPr lang="en-US" sz="3000" b="1" dirty="0" err="1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plano</a:t>
              </a:r>
              <a:r>
                <a:rPr lang="en-US" sz="3000" b="1" dirty="0">
                  <a:solidFill>
                    <a:srgbClr val="0E1A2B"/>
                  </a:solidFill>
                  <a:latin typeface="Arial" panose="020B0604020202020204" pitchFamily="34" charset="0"/>
                  <a:ea typeface="Cambria" pitchFamily="34" charset="-122"/>
                  <a:cs typeface="Arial" panose="020B0604020202020204" pitchFamily="34" charset="0"/>
                </a:rPr>
                <a:t> para a Sprint 4</a:t>
              </a:r>
              <a:endParaRPr lang="pt-BR" sz="30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95;p10">
            <a:extLst>
              <a:ext uri="{FF2B5EF4-FFF2-40B4-BE49-F238E27FC236}">
                <a16:creationId xmlns:a16="http://schemas.microsoft.com/office/drawing/2014/main" id="{975FC67E-A969-4026-B0F7-6452E0D8D6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B5361BD2-3F24-4BE6-AA18-3EEA90C53D5A}"/>
              </a:ext>
            </a:extLst>
          </p:cNvPr>
          <p:cNvSpPr txBox="1"/>
          <p:nvPr/>
        </p:nvSpPr>
        <p:spPr>
          <a:xfrm>
            <a:off x="4554441" y="3020501"/>
            <a:ext cx="3083119" cy="816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Obrigado!</a:t>
            </a:r>
            <a:endParaRPr lang="en-US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1F840163-47B5-4E5B-A61C-DA3F1B15241D}"/>
              </a:ext>
            </a:extLst>
          </p:cNvPr>
          <p:cNvSpPr txBox="1"/>
          <p:nvPr/>
        </p:nvSpPr>
        <p:spPr>
          <a:xfrm>
            <a:off x="2856000" y="5760720"/>
            <a:ext cx="648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2TSCPV · Grupo KAIRÓS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5BCA51-A912-46D2-B469-70D9CF157A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041" b="35890"/>
          <a:stretch/>
        </p:blipFill>
        <p:spPr>
          <a:xfrm>
            <a:off x="3128121" y="537306"/>
            <a:ext cx="5935759" cy="93288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852928" y="4041648"/>
            <a:ext cx="6483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spc="150" dirty="0">
                <a:solidFill>
                  <a:srgbClr val="9FB0C2"/>
                </a:solidFill>
                <a:latin typeface="Calibri"/>
              </a:rPr>
              <a:t>NOTEBOOKS DO PROJETO</a:t>
            </a:r>
          </a:p>
        </p:txBody>
      </p:sp>
      <p:sp>
        <p:nvSpPr>
          <p:cNvPr id="41" name="TextBox 40">
            <a:hlinkClick r:id="rId5"/>
          </p:cNvPr>
          <p:cNvSpPr txBox="1"/>
          <p:nvPr/>
        </p:nvSpPr>
        <p:spPr>
          <a:xfrm>
            <a:off x="2852928" y="4352544"/>
            <a:ext cx="6483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EC4D8"/>
                </a:solidFill>
                <a:latin typeface="Calibri"/>
              </a:rPr>
              <a:t>Núcleo preditivo — entrega final</a:t>
            </a:r>
          </a:p>
        </p:txBody>
      </p:sp>
      <p:sp>
        <p:nvSpPr>
          <p:cNvPr id="42" name="TextBox 41">
            <a:hlinkClick r:id="rId6"/>
          </p:cNvPr>
          <p:cNvSpPr txBox="1"/>
          <p:nvPr/>
        </p:nvSpPr>
        <p:spPr>
          <a:xfrm>
            <a:off x="2852928" y="4645152"/>
            <a:ext cx="6483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EC4D8"/>
                </a:solidFill>
                <a:latin typeface="Calibri"/>
              </a:rPr>
              <a:t>Caderno de estudos comparativos</a:t>
            </a:r>
          </a:p>
        </p:txBody>
      </p:sp>
    </p:spTree>
    <p:extLst>
      <p:ext uri="{BB962C8B-B14F-4D97-AF65-F5344CB8AC3E}">
        <p14:creationId xmlns:p14="http://schemas.microsoft.com/office/powerpoint/2010/main" val="394454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2556</Words>
  <Application>Microsoft Office PowerPoint</Application>
  <PresentationFormat>Widescreen</PresentationFormat>
  <Paragraphs>288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Pedro Pereira Rodrigues</cp:lastModifiedBy>
  <cp:revision>29</cp:revision>
  <dcterms:created xsi:type="dcterms:W3CDTF">2026-08-29T20:17:01Z</dcterms:created>
  <dcterms:modified xsi:type="dcterms:W3CDTF">2026-08-30T13:29:25Z</dcterms:modified>
</cp:coreProperties>
</file>