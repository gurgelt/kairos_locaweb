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jH+G520PT5s2+hSJ0ex0f+eD87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fb758f9bc9_0_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g3fb758f9bc9_0_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g3fb758f9bc9_0_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b758f9bc9_0_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g3fb758f9bc9_0_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g3fb758f9bc9_0_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fb758f9bc9_0_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g3fb758f9bc9_0_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3fb758f9bc9_0_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b758f9bc9_0_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g3fb758f9bc9_0_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3fb758f9bc9_0_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fb758f9bc9_0_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" name="Google Shape;40;g3fb758f9bc9_0_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fb758f9bc9_0_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fb758f9bc9_0_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g3fb758f9bc9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3fb758f9bc9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b6d93c2e4_8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g3fb6d93c2e4_8_0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b6d93c2e4_1_3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g3fb6d93c2e4_1_33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6d93c2e4_9_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g3fb6d93c2e4_9_1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b7e9edbc2_0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g3fb7e9edbc2_0_0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7f0f2f21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g3fb7f0f2f21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fb7f0f2f21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b7f0f2f21_0_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g3fb7f0f2f21_0_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fb7f0f2f21_0_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b7f0f2f21_0_5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g3fb7f0f2f21_0_5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fb7f0f2f21_0_5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b6d93c2e4_1_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g3fb6d93c2e4_1_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fb6d93c2e4_1_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5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5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5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Relationship Id="rId4" Type="http://schemas.openxmlformats.org/officeDocument/2006/relationships/image" Target="../media/image2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Relationship Id="rId4" Type="http://schemas.openxmlformats.org/officeDocument/2006/relationships/image" Target="../media/image21.png"/><Relationship Id="rId5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jp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20.png"/><Relationship Id="rId7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g3fb758f9bc9_0_5" title="Gemini_Generated_Image_ou701kou701kou70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11887201" cy="648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g3fb758f9bc9_0_5"/>
          <p:cNvSpPr/>
          <p:nvPr/>
        </p:nvSpPr>
        <p:spPr>
          <a:xfrm>
            <a:off x="9983095" y="2801100"/>
            <a:ext cx="987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Ana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g3fb758f9bc9_0_10" title="Gemini_Generated_Image_bjmr6objmr6objmr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11887201" cy="648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g3fb758f9bc9_0_14" title="Gemini_Generated_Image_3y3qfm3y3qfm3y3q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11887198" cy="6483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g3fb758f9bc9_0_18" title="Gemini_Generated_Image_wnn2ckwnn2ckwnn2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11887201" cy="65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g3fb758f9bc9_0_25" title="Gemini_Generated_Image_ey3tfley3tfley3t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11887201" cy="6533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g3fb758f9bc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2192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b6d93c2e4_8_0"/>
          <p:cNvSpPr/>
          <p:nvPr/>
        </p:nvSpPr>
        <p:spPr>
          <a:xfrm>
            <a:off x="10" y="0"/>
            <a:ext cx="12207240" cy="6866573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fb6d93c2e4_8_0"/>
          <p:cNvSpPr/>
          <p:nvPr/>
        </p:nvSpPr>
        <p:spPr>
          <a:xfrm>
            <a:off x="502920" y="502920"/>
            <a:ext cx="82296" cy="329184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fb6d93c2e4_8_0"/>
          <p:cNvSpPr/>
          <p:nvPr/>
        </p:nvSpPr>
        <p:spPr>
          <a:xfrm>
            <a:off x="685800" y="5029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1 · COMPREENDENDO O DESAFIO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fb6d93c2e4_8_0"/>
          <p:cNvSpPr/>
          <p:nvPr/>
        </p:nvSpPr>
        <p:spPr>
          <a:xfrm>
            <a:off x="502920" y="89611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Análise exploratória do salto de incidentes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fb6d93c2e4_8_0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fb6d93c2e4_8_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g3fb6d93c2e4_8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9762" y="1691625"/>
            <a:ext cx="8412476" cy="4143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b6d93c2e4_1_33"/>
          <p:cNvSpPr/>
          <p:nvPr/>
        </p:nvSpPr>
        <p:spPr>
          <a:xfrm>
            <a:off x="10" y="0"/>
            <a:ext cx="12207240" cy="6866573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fb6d93c2e4_1_33"/>
          <p:cNvSpPr/>
          <p:nvPr/>
        </p:nvSpPr>
        <p:spPr>
          <a:xfrm>
            <a:off x="502920" y="502920"/>
            <a:ext cx="82200" cy="329100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fb6d93c2e4_1_33"/>
          <p:cNvSpPr/>
          <p:nvPr/>
        </p:nvSpPr>
        <p:spPr>
          <a:xfrm>
            <a:off x="685800" y="502920"/>
            <a:ext cx="8229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1 · COMPREENDENDO O DESAFIO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fb6d93c2e4_1_33"/>
          <p:cNvSpPr/>
          <p:nvPr/>
        </p:nvSpPr>
        <p:spPr>
          <a:xfrm>
            <a:off x="502920" y="979137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Pico em Setembro de 2025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fb6d93c2e4_1_33"/>
          <p:cNvSpPr/>
          <p:nvPr/>
        </p:nvSpPr>
        <p:spPr>
          <a:xfrm>
            <a:off x="502920" y="6473952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fb6d93c2e4_1_33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g3fb6d93c2e4_1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125" y="1932325"/>
            <a:ext cx="9987750" cy="3671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b6d93c2e4_9_1"/>
          <p:cNvSpPr/>
          <p:nvPr/>
        </p:nvSpPr>
        <p:spPr>
          <a:xfrm>
            <a:off x="10" y="0"/>
            <a:ext cx="12207240" cy="6866573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fb6d93c2e4_9_1"/>
          <p:cNvSpPr/>
          <p:nvPr/>
        </p:nvSpPr>
        <p:spPr>
          <a:xfrm>
            <a:off x="502920" y="502920"/>
            <a:ext cx="82200" cy="329100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fb6d93c2e4_9_1"/>
          <p:cNvSpPr/>
          <p:nvPr/>
        </p:nvSpPr>
        <p:spPr>
          <a:xfrm>
            <a:off x="685800" y="502920"/>
            <a:ext cx="8229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1 · COMPREENDENDO O DESAFIO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fb6d93c2e4_9_1"/>
          <p:cNvSpPr/>
          <p:nvPr/>
        </p:nvSpPr>
        <p:spPr>
          <a:xfrm>
            <a:off x="502920" y="979137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Estabilidade do que entra no KPI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fb6d93c2e4_9_1"/>
          <p:cNvSpPr/>
          <p:nvPr/>
        </p:nvSpPr>
        <p:spPr>
          <a:xfrm>
            <a:off x="502920" y="6473952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fb6d93c2e4_9_1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g3fb6d93c2e4_9_1"/>
          <p:cNvPicPr preferRelativeResize="0"/>
          <p:nvPr/>
        </p:nvPicPr>
        <p:blipFill rotWithShape="1">
          <a:blip r:embed="rId4">
            <a:alphaModFix/>
          </a:blip>
          <a:srcRect b="0" l="2210" r="0" t="1127"/>
          <a:stretch/>
        </p:blipFill>
        <p:spPr>
          <a:xfrm>
            <a:off x="1350145" y="1922838"/>
            <a:ext cx="9491710" cy="3404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b7e9edbc2_0_0"/>
          <p:cNvSpPr/>
          <p:nvPr/>
        </p:nvSpPr>
        <p:spPr>
          <a:xfrm>
            <a:off x="10" y="0"/>
            <a:ext cx="12207240" cy="6866573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fb7e9edbc2_0_0"/>
          <p:cNvSpPr/>
          <p:nvPr/>
        </p:nvSpPr>
        <p:spPr>
          <a:xfrm>
            <a:off x="502920" y="502920"/>
            <a:ext cx="82200" cy="329100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fb7e9edbc2_0_0"/>
          <p:cNvSpPr/>
          <p:nvPr/>
        </p:nvSpPr>
        <p:spPr>
          <a:xfrm>
            <a:off x="685800" y="502920"/>
            <a:ext cx="8229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1 · COMPREENDENDO O DESAFIO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fb7e9edbc2_0_0"/>
          <p:cNvSpPr/>
          <p:nvPr/>
        </p:nvSpPr>
        <p:spPr>
          <a:xfrm>
            <a:off x="502920" y="896112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Análise exploratória do salto de incidentes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fb7e9edbc2_0_0"/>
          <p:cNvSpPr/>
          <p:nvPr/>
        </p:nvSpPr>
        <p:spPr>
          <a:xfrm>
            <a:off x="502920" y="6473952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fb7e9edbc2_0_0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g3fb7e9edbc2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9762" y="1691625"/>
            <a:ext cx="8412476" cy="4143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/>
          <p:nvPr/>
        </p:nvSpPr>
        <p:spPr>
          <a:xfrm>
            <a:off x="-15240" y="0"/>
            <a:ext cx="12207240" cy="6858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502920" y="502920"/>
            <a:ext cx="82296" cy="329184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685800" y="5029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2 · MODELAGEM PREDITIVA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502920" y="89611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Modelos avaliados e resultados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10"/>
          <p:cNvGrpSpPr/>
          <p:nvPr/>
        </p:nvGrpSpPr>
        <p:grpSpPr>
          <a:xfrm>
            <a:off x="2735580" y="1801368"/>
            <a:ext cx="6720840" cy="4160520"/>
            <a:chOff x="685800" y="1783080"/>
            <a:chExt cx="6720840" cy="4160520"/>
          </a:xfrm>
        </p:grpSpPr>
        <p:sp>
          <p:nvSpPr>
            <p:cNvPr id="104" name="Google Shape;104;p10"/>
            <p:cNvSpPr/>
            <p:nvPr/>
          </p:nvSpPr>
          <p:spPr>
            <a:xfrm>
              <a:off x="685800" y="1783080"/>
              <a:ext cx="6720840" cy="4160520"/>
            </a:xfrm>
            <a:prstGeom prst="rect">
              <a:avLst/>
            </a:prstGeom>
            <a:solidFill>
              <a:srgbClr val="1B1B21"/>
            </a:solidFill>
            <a:ln cap="flat" cmpd="sng" w="12700">
              <a:solidFill>
                <a:srgbClr val="34343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14300" rotWithShape="0" algn="bl" dir="5400000" dist="38100">
                <a:srgbClr val="000000">
                  <a:alpha val="45098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0"/>
            <p:cNvSpPr/>
            <p:nvPr/>
          </p:nvSpPr>
          <p:spPr>
            <a:xfrm>
              <a:off x="685800" y="1783080"/>
              <a:ext cx="6720840" cy="82296"/>
            </a:xfrm>
            <a:prstGeom prst="rect">
              <a:avLst/>
            </a:prstGeom>
            <a:solidFill>
              <a:srgbClr val="FF313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0"/>
            <p:cNvSpPr/>
            <p:nvPr/>
          </p:nvSpPr>
          <p:spPr>
            <a:xfrm>
              <a:off x="960120" y="2057400"/>
              <a:ext cx="23774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131"/>
                </a:buClr>
                <a:buSzPts val="1100"/>
                <a:buFont typeface="Trebuchet MS"/>
                <a:buNone/>
              </a:pPr>
              <a:r>
                <a:rPr b="1" i="0" lang="en-US" sz="1100" u="none" cap="none" strike="noStrike">
                  <a:solidFill>
                    <a:srgbClr val="FF313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Modelo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0"/>
            <p:cNvSpPr/>
            <p:nvPr/>
          </p:nvSpPr>
          <p:spPr>
            <a:xfrm>
              <a:off x="3383280" y="2057400"/>
              <a:ext cx="2286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131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F3131"/>
                  </a:solidFill>
                  <a:latin typeface="Calibri"/>
                  <a:ea typeface="Calibri"/>
                  <a:cs typeface="Calibri"/>
                  <a:sym typeface="Calibri"/>
                </a:rPr>
                <a:t>Papel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0"/>
            <p:cNvSpPr/>
            <p:nvPr/>
          </p:nvSpPr>
          <p:spPr>
            <a:xfrm>
              <a:off x="5669280" y="2057400"/>
              <a:ext cx="1600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131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rgbClr val="FF3131"/>
                  </a:solidFill>
                  <a:latin typeface="Calibri"/>
                  <a:ea typeface="Calibri"/>
                  <a:cs typeface="Calibri"/>
                  <a:sym typeface="Calibri"/>
                </a:rPr>
                <a:t>Resultado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" name="Google Shape;109;p10"/>
            <p:cNvCxnSpPr/>
            <p:nvPr/>
          </p:nvCxnSpPr>
          <p:spPr>
            <a:xfrm>
              <a:off x="960120" y="2468880"/>
              <a:ext cx="6172200" cy="0"/>
            </a:xfrm>
            <a:prstGeom prst="straightConnector1">
              <a:avLst/>
            </a:prstGeom>
            <a:noFill/>
            <a:ln cap="flat" cmpd="sng" w="9525">
              <a:solidFill>
                <a:srgbClr val="34343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0" name="Google Shape;110;p10"/>
            <p:cNvSpPr/>
            <p:nvPr/>
          </p:nvSpPr>
          <p:spPr>
            <a:xfrm>
              <a:off x="960120" y="2514600"/>
              <a:ext cx="23774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50"/>
                <a:buFont typeface="Trebuchet MS"/>
                <a:buNone/>
              </a:pPr>
              <a:r>
                <a:rPr b="0" i="0" lang="en-US" sz="125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Baseline sazonal</a:t>
              </a:r>
              <a:endParaRPr b="0" i="0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0"/>
            <p:cNvSpPr/>
            <p:nvPr/>
          </p:nvSpPr>
          <p:spPr>
            <a:xfrm>
              <a:off x="3383280" y="2514600"/>
              <a:ext cx="2286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br>
                <a:rPr b="0" i="0" lang="en-US" sz="1250" u="none" cap="none" strike="noStrike">
                  <a:solidFill>
                    <a:srgbClr val="A7A7B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50" u="none" cap="none" strike="noStrike">
                  <a:solidFill>
                    <a:srgbClr val="A7A7B0"/>
                  </a:solidFill>
                  <a:latin typeface="Calibri"/>
                  <a:ea typeface="Calibri"/>
                  <a:cs typeface="Calibri"/>
                  <a:sym typeface="Calibri"/>
                </a:rPr>
                <a:t>Referência obrigatória · P2/P3</a:t>
              </a:r>
              <a:endParaRPr b="0" i="0" sz="1250" u="none" cap="none" strike="noStrike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A7B0"/>
                </a:buClr>
                <a:buSzPts val="1250"/>
                <a:buFont typeface="Calibri"/>
                <a:buNone/>
              </a:pPr>
              <a:r>
                <a:t/>
              </a:r>
              <a:endParaRPr b="0" i="0" sz="1250" u="none" cap="none" strike="noStrike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0"/>
            <p:cNvSpPr/>
            <p:nvPr/>
          </p:nvSpPr>
          <p:spPr>
            <a:xfrm>
              <a:off x="5669280" y="2514600"/>
              <a:ext cx="1600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br>
                <a:rPr b="1" i="0" lang="en-US" sz="12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i="0" lang="en-US" sz="12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	MAE 5,2 · 11,5</a:t>
              </a:r>
              <a:endParaRPr b="1" i="0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50"/>
                <a:buFont typeface="Calibri"/>
                <a:buNone/>
              </a:pPr>
              <a:r>
                <a:t/>
              </a:r>
              <a:endParaRPr b="1" i="0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3" name="Google Shape;113;p10"/>
            <p:cNvCxnSpPr/>
            <p:nvPr/>
          </p:nvCxnSpPr>
          <p:spPr>
            <a:xfrm>
              <a:off x="960120" y="3090672"/>
              <a:ext cx="6172200" cy="0"/>
            </a:xfrm>
            <a:prstGeom prst="straightConnector1">
              <a:avLst/>
            </a:prstGeom>
            <a:noFill/>
            <a:ln cap="flat" cmpd="sng" w="9525">
              <a:solidFill>
                <a:srgbClr val="34343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" name="Google Shape;114;p10"/>
            <p:cNvSpPr/>
            <p:nvPr/>
          </p:nvSpPr>
          <p:spPr>
            <a:xfrm>
              <a:off x="960120" y="3136392"/>
              <a:ext cx="23774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FBF71"/>
                </a:buClr>
                <a:buSzPts val="1250"/>
                <a:buFont typeface="Trebuchet MS"/>
                <a:buNone/>
              </a:pPr>
              <a:r>
                <a:rPr b="1" i="0" lang="en-US" sz="1250" u="none" cap="none" strike="noStrike">
                  <a:solidFill>
                    <a:srgbClr val="2FBF7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Prophet ✓</a:t>
              </a:r>
              <a:endParaRPr b="0" i="0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0"/>
            <p:cNvSpPr/>
            <p:nvPr/>
          </p:nvSpPr>
          <p:spPr>
            <a:xfrm>
              <a:off x="3383280" y="3136392"/>
              <a:ext cx="2286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br>
                <a:rPr b="0" i="0" lang="en-US" sz="1250" u="none" cap="none" strike="noStrike">
                  <a:solidFill>
                    <a:srgbClr val="A7A7B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250" u="none" cap="none" strike="noStrike">
                  <a:solidFill>
                    <a:srgbClr val="A7A7B0"/>
                  </a:solidFill>
                  <a:latin typeface="Calibri"/>
                  <a:ea typeface="Calibri"/>
                  <a:cs typeface="Calibri"/>
                  <a:sym typeface="Calibri"/>
                </a:rPr>
                <a:t>Uma série por prioridade (D+1/D+7)</a:t>
              </a:r>
              <a:endParaRPr b="0" i="0" sz="1250" u="none" cap="none" strike="noStrike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A7B0"/>
                </a:buClr>
                <a:buSzPts val="1250"/>
                <a:buFont typeface="Calibri"/>
                <a:buNone/>
              </a:pPr>
              <a:r>
                <a:t/>
              </a:r>
              <a:endParaRPr b="0" i="0" sz="1250" u="none" cap="none" strike="noStrike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0"/>
            <p:cNvSpPr/>
            <p:nvPr/>
          </p:nvSpPr>
          <p:spPr>
            <a:xfrm>
              <a:off x="5669280" y="3136392"/>
              <a:ext cx="1600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br>
                <a:rPr b="1" i="0" lang="en-US" sz="12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i="0" lang="en-US" sz="12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MAE 3,9 · 9,1 · −20%</a:t>
              </a:r>
              <a:endParaRPr b="1" i="0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50"/>
                <a:buFont typeface="Calibri"/>
                <a:buNone/>
              </a:pPr>
              <a:r>
                <a:t/>
              </a:r>
              <a:endParaRPr b="1" i="0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7" name="Google Shape;117;p10"/>
            <p:cNvCxnSpPr/>
            <p:nvPr/>
          </p:nvCxnSpPr>
          <p:spPr>
            <a:xfrm>
              <a:off x="960120" y="3712464"/>
              <a:ext cx="6172200" cy="0"/>
            </a:xfrm>
            <a:prstGeom prst="straightConnector1">
              <a:avLst/>
            </a:prstGeom>
            <a:noFill/>
            <a:ln cap="flat" cmpd="sng" w="9525">
              <a:solidFill>
                <a:srgbClr val="34343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" name="Google Shape;118;p10"/>
            <p:cNvSpPr/>
            <p:nvPr/>
          </p:nvSpPr>
          <p:spPr>
            <a:xfrm>
              <a:off x="960120" y="3758184"/>
              <a:ext cx="23774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50"/>
                <a:buFont typeface="Trebuchet MS"/>
                <a:buNone/>
              </a:pPr>
              <a:r>
                <a:rPr b="0" i="0" lang="en-US" sz="125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SARIMAX</a:t>
              </a:r>
              <a:endParaRPr b="0" i="0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0"/>
            <p:cNvSpPr/>
            <p:nvPr/>
          </p:nvSpPr>
          <p:spPr>
            <a:xfrm>
              <a:off x="3383280" y="3758184"/>
              <a:ext cx="2286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A7B0"/>
                </a:buClr>
                <a:buSzPts val="1250"/>
                <a:buFont typeface="Calibri"/>
                <a:buNone/>
              </a:pPr>
              <a:r>
                <a:rPr b="0" i="0" lang="en-US" sz="1250" u="none" cap="none" strike="noStrike">
                  <a:solidFill>
                    <a:srgbClr val="A7A7B0"/>
                  </a:solidFill>
                  <a:latin typeface="Calibri"/>
                  <a:ea typeface="Calibri"/>
                  <a:cs typeface="Calibri"/>
                  <a:sym typeface="Calibri"/>
                </a:rPr>
                <a:t>Vence no volume bruto</a:t>
              </a:r>
              <a:endParaRPr b="0" i="0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0"/>
            <p:cNvSpPr/>
            <p:nvPr/>
          </p:nvSpPr>
          <p:spPr>
            <a:xfrm>
              <a:off x="5669280" y="3758184"/>
              <a:ext cx="1600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50"/>
                <a:buFont typeface="Calibri"/>
                <a:buNone/>
              </a:pPr>
              <a:r>
                <a:rPr b="1" i="0" lang="en-US" sz="12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não escala p/ N séries</a:t>
              </a:r>
              <a:endParaRPr b="0" i="0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1" name="Google Shape;121;p10"/>
            <p:cNvCxnSpPr/>
            <p:nvPr/>
          </p:nvCxnSpPr>
          <p:spPr>
            <a:xfrm>
              <a:off x="960120" y="4334256"/>
              <a:ext cx="6172200" cy="0"/>
            </a:xfrm>
            <a:prstGeom prst="straightConnector1">
              <a:avLst/>
            </a:prstGeom>
            <a:noFill/>
            <a:ln cap="flat" cmpd="sng" w="9525">
              <a:solidFill>
                <a:srgbClr val="34343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" name="Google Shape;122;p10"/>
            <p:cNvSpPr/>
            <p:nvPr/>
          </p:nvSpPr>
          <p:spPr>
            <a:xfrm>
              <a:off x="960120" y="4379976"/>
              <a:ext cx="23774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FBF71"/>
                </a:buClr>
                <a:buSzPts val="1250"/>
                <a:buFont typeface="Trebuchet MS"/>
                <a:buNone/>
              </a:pPr>
              <a:r>
                <a:rPr b="1" i="0" lang="en-US" sz="1250" u="none" cap="none" strike="noStrike">
                  <a:solidFill>
                    <a:srgbClr val="2FBF7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CatBoost ✓</a:t>
              </a:r>
              <a:endParaRPr b="0" i="0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0"/>
            <p:cNvSpPr/>
            <p:nvPr/>
          </p:nvSpPr>
          <p:spPr>
            <a:xfrm>
              <a:off x="3383280" y="4379976"/>
              <a:ext cx="2286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A7B0"/>
                </a:buClr>
                <a:buSzPts val="1250"/>
                <a:buFont typeface="Calibri"/>
                <a:buNone/>
              </a:pPr>
              <a:r>
                <a:rPr b="0" i="0" lang="en-US" sz="1250" u="none" cap="none" strike="noStrike">
                  <a:solidFill>
                    <a:srgbClr val="A7A7B0"/>
                  </a:solidFill>
                  <a:latin typeface="Calibri"/>
                  <a:ea typeface="Calibri"/>
                  <a:cs typeface="Calibri"/>
                  <a:sym typeface="Calibri"/>
                </a:rPr>
                <a:t>Risco de violação de OLA</a:t>
              </a:r>
              <a:endParaRPr b="0" i="0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0"/>
            <p:cNvSpPr/>
            <p:nvPr/>
          </p:nvSpPr>
          <p:spPr>
            <a:xfrm>
              <a:off x="5669280" y="4379976"/>
              <a:ext cx="1600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50"/>
                <a:buFont typeface="Calibri"/>
                <a:buNone/>
              </a:pPr>
              <a:r>
                <a:rPr b="1" i="0" lang="en-US" sz="12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ROC-AUC 0,84</a:t>
              </a:r>
              <a:endParaRPr b="0" i="0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5" name="Google Shape;125;p10"/>
            <p:cNvCxnSpPr/>
            <p:nvPr/>
          </p:nvCxnSpPr>
          <p:spPr>
            <a:xfrm>
              <a:off x="960120" y="4956048"/>
              <a:ext cx="6172200" cy="0"/>
            </a:xfrm>
            <a:prstGeom prst="straightConnector1">
              <a:avLst/>
            </a:prstGeom>
            <a:noFill/>
            <a:ln cap="flat" cmpd="sng" w="9525">
              <a:solidFill>
                <a:srgbClr val="34343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6" name="Google Shape;126;p10"/>
            <p:cNvSpPr/>
            <p:nvPr/>
          </p:nvSpPr>
          <p:spPr>
            <a:xfrm>
              <a:off x="960120" y="5001768"/>
              <a:ext cx="23774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50"/>
                <a:buFont typeface="Trebuchet MS"/>
                <a:buNone/>
              </a:pPr>
              <a:r>
                <a:rPr b="0" i="0" lang="en-US" sz="125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TF-IDF + KMeans</a:t>
              </a:r>
              <a:endParaRPr b="0" i="0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0"/>
            <p:cNvSpPr/>
            <p:nvPr/>
          </p:nvSpPr>
          <p:spPr>
            <a:xfrm>
              <a:off x="3383280" y="5001768"/>
              <a:ext cx="2286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A7B0"/>
                </a:buClr>
                <a:buSzPts val="1250"/>
                <a:buFont typeface="Calibri"/>
                <a:buNone/>
              </a:pPr>
              <a:r>
                <a:rPr b="0" i="0" lang="en-US" sz="1250" u="none" cap="none" strike="noStrike">
                  <a:solidFill>
                    <a:srgbClr val="A7A7B0"/>
                  </a:solidFill>
                  <a:latin typeface="Calibri"/>
                  <a:ea typeface="Calibri"/>
                  <a:cs typeface="Calibri"/>
                  <a:sym typeface="Calibri"/>
                </a:rPr>
                <a:t>Clusters de causa raiz</a:t>
              </a:r>
              <a:endParaRPr b="0" i="0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0"/>
            <p:cNvSpPr/>
            <p:nvPr/>
          </p:nvSpPr>
          <p:spPr>
            <a:xfrm>
              <a:off x="5669280" y="5001768"/>
              <a:ext cx="1600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50"/>
                <a:buFont typeface="Calibri"/>
                <a:buNone/>
              </a:pPr>
              <a:r>
                <a:rPr b="1" i="0" lang="en-US" sz="12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20 grupos (k=20)</a:t>
              </a:r>
              <a:endParaRPr b="0" i="0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p10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/>
          <p:nvPr/>
        </p:nvSpPr>
        <p:spPr>
          <a:xfrm>
            <a:off x="-15240" y="0"/>
            <a:ext cx="12207240" cy="6866573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502920" y="502920"/>
            <a:ext cx="82296" cy="329184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685800" y="5029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3 · DEMONSTRAÇÃO DA SOLUÇÃO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502920" y="89611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</a:t>
            </a: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— Visão estratégica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502920" y="1645920"/>
            <a:ext cx="8275320" cy="4206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9006840" y="1645920"/>
            <a:ext cx="2651760" cy="4727448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9006840" y="1645920"/>
            <a:ext cx="2651760" cy="82296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9189720" y="182880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Indicadores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9189720" y="2276856"/>
            <a:ext cx="146304" cy="146304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9418320" y="219456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50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Placar do contrato </a:t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418320" y="2459736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2 KPIs × 2 prioridades = 4 indicadores; 3 batidos. O que falta é quebra de OLA em P2, por 3 quebras. </a:t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9189720" y="3236976"/>
            <a:ext cx="146304" cy="146304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9418320" y="315468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sz="1150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rPr b="1" lang="en-US" sz="11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Estamos no ritmo </a:t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9418320" y="3419856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Acumulado contra o limite rateado pelo tempo. P2 passou da régua </a:t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9189720" y="4197096"/>
            <a:ext cx="146304" cy="146304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9418320" y="411480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sz="1150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rPr b="1" lang="en-US" sz="11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Chance de fechar o ano</a:t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9418320" y="4379976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Poisson sobre o ritmo do período: 70% em P2, 100% em P3.</a:t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9189720" y="5157216"/>
            <a:ext cx="146304" cy="146304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9418320" y="507492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sz="1150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rPr b="1" lang="en-US" sz="11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Pronto para P1</a:t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9418320" y="5340096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As prioridades saem dos dados. Se um P1 aparecer em 2026, a linha se preenche sozinha.</a:t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5" y="1627625"/>
            <a:ext cx="8275324" cy="420622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</p:pic>
      <p:pic>
        <p:nvPicPr>
          <p:cNvPr id="159" name="Google Shape;159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275" y="1581250"/>
            <a:ext cx="8583975" cy="4856791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1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b7f0f2f21_0_0"/>
          <p:cNvSpPr/>
          <p:nvPr/>
        </p:nvSpPr>
        <p:spPr>
          <a:xfrm>
            <a:off x="-15240" y="0"/>
            <a:ext cx="12207240" cy="6866573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fb7f0f2f21_0_0"/>
          <p:cNvSpPr/>
          <p:nvPr/>
        </p:nvSpPr>
        <p:spPr>
          <a:xfrm>
            <a:off x="502920" y="502920"/>
            <a:ext cx="82200" cy="329100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fb7f0f2f21_0_0"/>
          <p:cNvSpPr/>
          <p:nvPr/>
        </p:nvSpPr>
        <p:spPr>
          <a:xfrm>
            <a:off x="685800" y="502920"/>
            <a:ext cx="8229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3 · DEMONSTRAÇÃO DA SOLUÇÃO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fb7f0f2f21_0_0"/>
          <p:cNvSpPr/>
          <p:nvPr/>
        </p:nvSpPr>
        <p:spPr>
          <a:xfrm>
            <a:off x="502920" y="896112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 </a:t>
            </a:r>
            <a:r>
              <a:rPr b="1" lang="en-US" sz="3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— </a:t>
            </a: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Visão Operacional</a:t>
            </a:r>
            <a:endParaRPr b="1" sz="30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9" name="Google Shape;169;g3fb7f0f2f21_0_0"/>
          <p:cNvSpPr/>
          <p:nvPr/>
        </p:nvSpPr>
        <p:spPr>
          <a:xfrm>
            <a:off x="502920" y="1645920"/>
            <a:ext cx="8275200" cy="4206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1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fb7f0f2f21_0_0"/>
          <p:cNvSpPr/>
          <p:nvPr/>
        </p:nvSpPr>
        <p:spPr>
          <a:xfrm>
            <a:off x="9006840" y="1645920"/>
            <a:ext cx="2651700" cy="472740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1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fb7f0f2f21_0_0"/>
          <p:cNvSpPr/>
          <p:nvPr/>
        </p:nvSpPr>
        <p:spPr>
          <a:xfrm>
            <a:off x="9006840" y="1645920"/>
            <a:ext cx="2651700" cy="82200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fb7f0f2f21_0_0"/>
          <p:cNvSpPr/>
          <p:nvPr/>
        </p:nvSpPr>
        <p:spPr>
          <a:xfrm>
            <a:off x="9189720" y="1828800"/>
            <a:ext cx="233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Indicadores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fb7f0f2f21_0_0"/>
          <p:cNvSpPr/>
          <p:nvPr/>
        </p:nvSpPr>
        <p:spPr>
          <a:xfrm>
            <a:off x="9189720" y="2276856"/>
            <a:ext cx="146400" cy="146400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fb7f0f2f21_0_0"/>
          <p:cNvSpPr/>
          <p:nvPr/>
        </p:nvSpPr>
        <p:spPr>
          <a:xfrm>
            <a:off x="9418320" y="2194560"/>
            <a:ext cx="214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50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Previsão da semana </a:t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5" name="Google Shape;175;g3fb7f0f2f21_0_0"/>
          <p:cNvSpPr/>
          <p:nvPr/>
        </p:nvSpPr>
        <p:spPr>
          <a:xfrm>
            <a:off x="9418320" y="2459736"/>
            <a:ext cx="214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288 chamados em D+7, 41 por dia, queda de 25,6% contra a janela anterior. </a:t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fb7f0f2f21_0_0"/>
          <p:cNvSpPr/>
          <p:nvPr/>
        </p:nvSpPr>
        <p:spPr>
          <a:xfrm>
            <a:off x="9189720" y="3236976"/>
            <a:ext cx="146400" cy="146400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fb7f0f2f21_0_0"/>
          <p:cNvSpPr/>
          <p:nvPr/>
        </p:nvSpPr>
        <p:spPr>
          <a:xfrm>
            <a:off x="9418320" y="3154680"/>
            <a:ext cx="214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br>
              <a:rPr b="1" i="0" lang="en-US" sz="1150" u="none" cap="none" strike="noStrike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lang="en-US" sz="11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Dimensionamento</a:t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8" name="Google Shape;178;g3fb7f0f2f21_0_0"/>
          <p:cNvSpPr/>
          <p:nvPr/>
        </p:nvSpPr>
        <p:spPr>
          <a:xfrm>
            <a:off x="9418320" y="3419856"/>
            <a:ext cx="214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49 chamados amanhã → 5 analistas, na premissa de 10 por analista/dia, a confirmar com a Locaweb</a:t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fb7f0f2f21_0_0"/>
          <p:cNvSpPr/>
          <p:nvPr/>
        </p:nvSpPr>
        <p:spPr>
          <a:xfrm>
            <a:off x="9189720" y="4197096"/>
            <a:ext cx="146400" cy="146400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fb7f0f2f21_0_0"/>
          <p:cNvSpPr/>
          <p:nvPr/>
        </p:nvSpPr>
        <p:spPr>
          <a:xfrm>
            <a:off x="9418320" y="4114800"/>
            <a:ext cx="214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br>
              <a:rPr b="1" i="0" lang="en-US" sz="1150" u="none" cap="none" strike="noStrike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i="0" lang="en-US" sz="1150" u="none" cap="none" strike="noStrike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Real vs. previsto</a:t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1" name="Google Shape;181;g3fb7f0f2f21_0_0"/>
          <p:cNvSpPr/>
          <p:nvPr/>
        </p:nvSpPr>
        <p:spPr>
          <a:xfrm>
            <a:off x="9418320" y="4379976"/>
            <a:ext cx="214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Volume diário que entra no KPI, com a previsão D+1 e D+7 sobreposta ao realizado.</a:t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fb7f0f2f21_0_0"/>
          <p:cNvSpPr/>
          <p:nvPr/>
        </p:nvSpPr>
        <p:spPr>
          <a:xfrm>
            <a:off x="9189720" y="5157216"/>
            <a:ext cx="146400" cy="146400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fb7f0f2f21_0_0"/>
          <p:cNvSpPr/>
          <p:nvPr/>
        </p:nvSpPr>
        <p:spPr>
          <a:xfrm>
            <a:off x="9418320" y="5074920"/>
            <a:ext cx="214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sz="1150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rPr b="1" lang="en-US" sz="11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Onde agir primeiro</a:t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4" name="Google Shape;184;g3fb7f0f2f21_0_0"/>
          <p:cNvSpPr/>
          <p:nvPr/>
        </p:nvSpPr>
        <p:spPr>
          <a:xfrm>
            <a:off x="9418320" y="5340096"/>
            <a:ext cx="214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Fila por score de ação, com duração mediana e reincidência lado a lado.</a:t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fb7f0f2f21_0_0"/>
          <p:cNvSpPr/>
          <p:nvPr/>
        </p:nvSpPr>
        <p:spPr>
          <a:xfrm>
            <a:off x="502920" y="6473952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fb7f0f2f21_0_0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g3fb7f0f2f2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5" y="1627625"/>
            <a:ext cx="8275324" cy="420622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100"/>
              </a:srgbClr>
            </a:outerShdw>
          </a:effectLst>
        </p:spPr>
      </p:pic>
      <p:pic>
        <p:nvPicPr>
          <p:cNvPr id="188" name="Google Shape;188;g3fb7f0f2f21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275" y="1627625"/>
            <a:ext cx="8583976" cy="50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b7f0f2f21_0_27"/>
          <p:cNvSpPr/>
          <p:nvPr/>
        </p:nvSpPr>
        <p:spPr>
          <a:xfrm>
            <a:off x="-15240" y="0"/>
            <a:ext cx="12207240" cy="6866573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fb7f0f2f21_0_27"/>
          <p:cNvSpPr/>
          <p:nvPr/>
        </p:nvSpPr>
        <p:spPr>
          <a:xfrm>
            <a:off x="502920" y="502920"/>
            <a:ext cx="82200" cy="329100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fb7f0f2f21_0_27"/>
          <p:cNvSpPr/>
          <p:nvPr/>
        </p:nvSpPr>
        <p:spPr>
          <a:xfrm>
            <a:off x="685800" y="502920"/>
            <a:ext cx="8229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3 · DEMONSTRAÇÃO DA SOLUÇÃO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fb7f0f2f21_0_27"/>
          <p:cNvSpPr/>
          <p:nvPr/>
        </p:nvSpPr>
        <p:spPr>
          <a:xfrm>
            <a:off x="502920" y="896112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 — Tendência e Ação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fb7f0f2f21_0_27"/>
          <p:cNvSpPr/>
          <p:nvPr/>
        </p:nvSpPr>
        <p:spPr>
          <a:xfrm>
            <a:off x="502920" y="1645920"/>
            <a:ext cx="8275200" cy="4206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1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fb7f0f2f21_0_27"/>
          <p:cNvSpPr/>
          <p:nvPr/>
        </p:nvSpPr>
        <p:spPr>
          <a:xfrm>
            <a:off x="9006840" y="1645920"/>
            <a:ext cx="2651700" cy="472740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1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fb7f0f2f21_0_27"/>
          <p:cNvSpPr/>
          <p:nvPr/>
        </p:nvSpPr>
        <p:spPr>
          <a:xfrm>
            <a:off x="9006840" y="1645920"/>
            <a:ext cx="2651700" cy="82200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fb7f0f2f21_0_27"/>
          <p:cNvSpPr/>
          <p:nvPr/>
        </p:nvSpPr>
        <p:spPr>
          <a:xfrm>
            <a:off x="9189720" y="1828800"/>
            <a:ext cx="233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Indicadores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fb7f0f2f21_0_27"/>
          <p:cNvSpPr/>
          <p:nvPr/>
        </p:nvSpPr>
        <p:spPr>
          <a:xfrm>
            <a:off x="9189720" y="2276856"/>
            <a:ext cx="146400" cy="146400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fb7f0f2f21_0_27"/>
          <p:cNvSpPr/>
          <p:nvPr/>
        </p:nvSpPr>
        <p:spPr>
          <a:xfrm>
            <a:off x="9418320" y="2194560"/>
            <a:ext cx="214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i="0" lang="en-US" sz="1150" u="none" cap="none" strike="noStrike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lang="en-US" sz="11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A fila do dia</a:t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4" name="Google Shape;204;g3fb7f0f2f21_0_27"/>
          <p:cNvSpPr/>
          <p:nvPr/>
        </p:nvSpPr>
        <p:spPr>
          <a:xfrm>
            <a:off x="9418320" y="2459736"/>
            <a:ext cx="214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14 chamados a revisar antes de estourar; destes, 9 furaram o OLA no teste, contra 0,99% da base.</a:t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fb7f0f2f21_0_27"/>
          <p:cNvSpPr/>
          <p:nvPr/>
        </p:nvSpPr>
        <p:spPr>
          <a:xfrm>
            <a:off x="9189720" y="3236976"/>
            <a:ext cx="146400" cy="146400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fb7f0f2f21_0_27"/>
          <p:cNvSpPr/>
          <p:nvPr/>
        </p:nvSpPr>
        <p:spPr>
          <a:xfrm>
            <a:off x="9418320" y="3154680"/>
            <a:ext cx="214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sz="1150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rPr b="1" lang="en-US" sz="11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Quem mais mudou</a:t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7" name="Google Shape;207;g3fb7f0f2f21_0_27"/>
          <p:cNvSpPr/>
          <p:nvPr/>
        </p:nvSpPr>
        <p:spPr>
          <a:xfrm>
            <a:off x="9418320" y="3419856"/>
            <a:ext cx="214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90 dias maduros contra os 90 anteriores: sub221 subiu 8,3 pp, Team03 caiu 7,7 pp.</a:t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fb7f0f2f21_0_27"/>
          <p:cNvSpPr/>
          <p:nvPr/>
        </p:nvSpPr>
        <p:spPr>
          <a:xfrm>
            <a:off x="9189720" y="4197096"/>
            <a:ext cx="146400" cy="146400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fb7f0f2f21_0_27"/>
          <p:cNvSpPr/>
          <p:nvPr/>
        </p:nvSpPr>
        <p:spPr>
          <a:xfrm>
            <a:off x="9418320" y="4114800"/>
            <a:ext cx="214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sz="1150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rPr b="1" lang="en-US" sz="11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Concentração</a:t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0" name="Google Shape;210;g3fb7f0f2f21_0_27"/>
          <p:cNvSpPr/>
          <p:nvPr/>
        </p:nvSpPr>
        <p:spPr>
          <a:xfrm>
            <a:off x="9418320" y="4379976"/>
            <a:ext cx="214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37% das quebras do ano em 5 alvos; lsin·cat31 sozinho responde por 32 de 238.</a:t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fb7f0f2f21_0_27"/>
          <p:cNvSpPr/>
          <p:nvPr/>
        </p:nvSpPr>
        <p:spPr>
          <a:xfrm>
            <a:off x="9189720" y="5157216"/>
            <a:ext cx="146400" cy="146400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b7f0f2f21_0_27"/>
          <p:cNvSpPr/>
          <p:nvPr/>
        </p:nvSpPr>
        <p:spPr>
          <a:xfrm>
            <a:off x="9418320" y="5074920"/>
            <a:ext cx="214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sz="1150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rPr b="1" lang="en-US" sz="11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Cada chamado com o motivo</a:t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3" name="Google Shape;213;g3fb7f0f2f21_0_27"/>
          <p:cNvSpPr/>
          <p:nvPr/>
        </p:nvSpPr>
        <p:spPr>
          <a:xfrm>
            <a:off x="9418320" y="5340096"/>
            <a:ext cx="214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O SHAP local diz o que pesou naquele caso e qual ação ele sugere.</a:t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fb7f0f2f21_0_27"/>
          <p:cNvSpPr/>
          <p:nvPr/>
        </p:nvSpPr>
        <p:spPr>
          <a:xfrm>
            <a:off x="502920" y="6473952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fb7f0f2f21_0_27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g3fb7f0f2f21_0_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5" y="1627625"/>
            <a:ext cx="8275324" cy="420622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100"/>
              </a:srgbClr>
            </a:outerShdw>
          </a:effectLst>
        </p:spPr>
      </p:pic>
      <p:pic>
        <p:nvPicPr>
          <p:cNvPr id="217" name="Google Shape;217;g3fb7f0f2f21_0_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275" y="1578846"/>
            <a:ext cx="8583974" cy="4861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b7f0f2f21_0_54"/>
          <p:cNvSpPr/>
          <p:nvPr/>
        </p:nvSpPr>
        <p:spPr>
          <a:xfrm>
            <a:off x="-15240" y="0"/>
            <a:ext cx="12207240" cy="6866573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fb7f0f2f21_0_54"/>
          <p:cNvSpPr/>
          <p:nvPr/>
        </p:nvSpPr>
        <p:spPr>
          <a:xfrm>
            <a:off x="502920" y="502920"/>
            <a:ext cx="82200" cy="329100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fb7f0f2f21_0_54"/>
          <p:cNvSpPr/>
          <p:nvPr/>
        </p:nvSpPr>
        <p:spPr>
          <a:xfrm>
            <a:off x="685800" y="502920"/>
            <a:ext cx="8229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3 · DEMONSTRAÇÃO DA SOLUÇÃO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fb7f0f2f21_0_54"/>
          <p:cNvSpPr/>
          <p:nvPr/>
        </p:nvSpPr>
        <p:spPr>
          <a:xfrm>
            <a:off x="502920" y="896112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 — Visão </a:t>
            </a: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Analitica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fb7f0f2f21_0_54"/>
          <p:cNvSpPr/>
          <p:nvPr/>
        </p:nvSpPr>
        <p:spPr>
          <a:xfrm>
            <a:off x="502920" y="1645920"/>
            <a:ext cx="8275200" cy="4206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1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fb7f0f2f21_0_54"/>
          <p:cNvSpPr/>
          <p:nvPr/>
        </p:nvSpPr>
        <p:spPr>
          <a:xfrm>
            <a:off x="9006840" y="1645920"/>
            <a:ext cx="2651700" cy="472740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1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fb7f0f2f21_0_54"/>
          <p:cNvSpPr/>
          <p:nvPr/>
        </p:nvSpPr>
        <p:spPr>
          <a:xfrm>
            <a:off x="9006840" y="1645920"/>
            <a:ext cx="2651700" cy="82200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fb7f0f2f21_0_54"/>
          <p:cNvSpPr/>
          <p:nvPr/>
        </p:nvSpPr>
        <p:spPr>
          <a:xfrm>
            <a:off x="9189720" y="1828800"/>
            <a:ext cx="233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Indicadores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b7f0f2f21_0_54"/>
          <p:cNvSpPr/>
          <p:nvPr/>
        </p:nvSpPr>
        <p:spPr>
          <a:xfrm>
            <a:off x="9189720" y="2276856"/>
            <a:ext cx="146400" cy="146400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fb7f0f2f21_0_54"/>
          <p:cNvSpPr/>
          <p:nvPr/>
        </p:nvSpPr>
        <p:spPr>
          <a:xfrm>
            <a:off x="9418320" y="2194560"/>
            <a:ext cx="214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50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O que pesa no risco</a:t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3" name="Google Shape;233;g3fb7f0f2f21_0_54"/>
          <p:cNvSpPr/>
          <p:nvPr/>
        </p:nvSpPr>
        <p:spPr>
          <a:xfrm>
            <a:off x="9418320" y="2459736"/>
            <a:ext cx="214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CatBoost, ROC-AUC 0,82 ± 0,01. Equipe é o fator nº 1 com 19,2%; Prioridade é o último, com 5,1%.</a:t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fb7f0f2f21_0_54"/>
          <p:cNvSpPr/>
          <p:nvPr/>
        </p:nvSpPr>
        <p:spPr>
          <a:xfrm>
            <a:off x="9189720" y="3236976"/>
            <a:ext cx="146400" cy="146400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fb7f0f2f21_0_54"/>
          <p:cNvSpPr/>
          <p:nvPr/>
        </p:nvSpPr>
        <p:spPr>
          <a:xfrm>
            <a:off x="9418320" y="3154680"/>
            <a:ext cx="214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sz="1150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rPr b="1" lang="en-US" sz="11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Sem vazamento</a:t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6" name="Google Shape;236;g3fb7f0f2f21_0_54"/>
          <p:cNvSpPr/>
          <p:nvPr/>
        </p:nvSpPr>
        <p:spPr>
          <a:xfrm>
            <a:off x="9418320" y="3419856"/>
            <a:ext cx="214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Só atributos conhecidos na abertura; duração, resolução e status ficam de fora.</a:t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fb7f0f2f21_0_54"/>
          <p:cNvSpPr/>
          <p:nvPr/>
        </p:nvSpPr>
        <p:spPr>
          <a:xfrm>
            <a:off x="9189720" y="4197096"/>
            <a:ext cx="146400" cy="146400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fb7f0f2f21_0_54"/>
          <p:cNvSpPr/>
          <p:nvPr/>
        </p:nvSpPr>
        <p:spPr>
          <a:xfrm>
            <a:off x="9418320" y="4114800"/>
            <a:ext cx="214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sz="1150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rPr b="1" lang="en-US" sz="11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Três achados</a:t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9" name="Google Shape;239;g3fb7f0f2f21_0_54"/>
          <p:cNvSpPr/>
          <p:nvPr/>
        </p:nvSpPr>
        <p:spPr>
          <a:xfrm>
            <a:off x="9418320" y="4379976"/>
            <a:ext cx="214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Chamado manual viola 2,7x mais; reincidente viola menos, não mais; fim de semana, 1,8x.</a:t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fb7f0f2f21_0_54"/>
          <p:cNvSpPr/>
          <p:nvPr/>
        </p:nvSpPr>
        <p:spPr>
          <a:xfrm>
            <a:off x="9189720" y="5157216"/>
            <a:ext cx="146400" cy="146400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fb7f0f2f21_0_54"/>
          <p:cNvSpPr/>
          <p:nvPr/>
        </p:nvSpPr>
        <p:spPr>
          <a:xfrm>
            <a:off x="9418320" y="5074920"/>
            <a:ext cx="214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br>
              <a:rPr b="1" i="0" lang="en-US" sz="1150" u="none" cap="none" strike="noStrike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lang="en-US" sz="1150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Precursor</a:t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150"/>
              <a:buFont typeface="Trebuchet MS"/>
              <a:buNone/>
            </a:pPr>
            <a:r>
              <a:t/>
            </a:r>
            <a:endParaRPr b="1" i="0" sz="1150" u="none" cap="none" strike="noStrike">
              <a:solidFill>
                <a:srgbClr val="FF313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2" name="Google Shape;242;g3fb7f0f2f21_0_54"/>
          <p:cNvSpPr/>
          <p:nvPr/>
        </p:nvSpPr>
        <p:spPr>
          <a:xfrm>
            <a:off x="9418320" y="5340096"/>
            <a:ext cx="214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Servidor com mais de 10 chamadinhos P4 na semana: 16% de chance de incidente sério em 3 dias, contra 10% de um servidor quieto.</a:t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A7A7B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fb7f0f2f21_0_54"/>
          <p:cNvSpPr/>
          <p:nvPr/>
        </p:nvSpPr>
        <p:spPr>
          <a:xfrm>
            <a:off x="502920" y="6473952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fb7f0f2f21_0_54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g3fb7f0f2f21_0_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5" y="1627625"/>
            <a:ext cx="8275324" cy="420622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100"/>
              </a:srgbClr>
            </a:outerShdw>
          </a:effectLst>
        </p:spPr>
      </p:pic>
      <p:pic>
        <p:nvPicPr>
          <p:cNvPr id="246" name="Google Shape;246;g3fb7f0f2f21_0_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271" y="1583722"/>
            <a:ext cx="8583974" cy="4851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"/>
          <p:cNvSpPr/>
          <p:nvPr/>
        </p:nvSpPr>
        <p:spPr>
          <a:xfrm>
            <a:off x="-7615" y="-8575"/>
            <a:ext cx="12207240" cy="6866573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502920" y="502920"/>
            <a:ext cx="82296" cy="329184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685800" y="5029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4 · ARQUITETURA DA SOLUÇÃO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502920" y="89611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Arquitetura Proposta — Azure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502920" y="1600200"/>
            <a:ext cx="8549640" cy="4617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9281160" y="1600200"/>
            <a:ext cx="2377440" cy="461772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9281160" y="1600200"/>
            <a:ext cx="2377440" cy="82296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9464040" y="178308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Padrão Medallion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9464040" y="2212848"/>
            <a:ext cx="237744" cy="237744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9464040" y="221284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9784080" y="2157984"/>
            <a:ext cx="1783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Ingestão do ITSM (Excel/CSV) para o Data Lake ADLS Gen2 (Bronze + Silver).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9464040" y="3017520"/>
            <a:ext cx="237744" cy="237744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9464040" y="301752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9784080" y="2962656"/>
            <a:ext cx="1783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Azure Data Factory orquestra o ETL e carrega a camada Gold no Azure SQL.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9464040" y="3822192"/>
            <a:ext cx="237744" cy="237744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9464040" y="382219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9784080" y="3767328"/>
            <a:ext cx="1783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CI/CD (GitHub Actions + ACR) publica a imagem; Azure ML treina os modelos.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9464040" y="4626864"/>
            <a:ext cx="237744" cy="237744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9464040" y="462686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9784080" y="4572000"/>
            <a:ext cx="1783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ACI executa o scoring diário e grava a previsão de volta no banco.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9464040" y="5431536"/>
            <a:ext cx="237744" cy="237744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9464040" y="543153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9784080" y="5376672"/>
            <a:ext cx="1783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Power BI consome o dashboard; observabilidade e rede privada por padrão.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8" title="arquitetura_kairos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5" y="1600200"/>
            <a:ext cx="8549626" cy="461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b6d93c2e4_1_1"/>
          <p:cNvSpPr/>
          <p:nvPr/>
        </p:nvSpPr>
        <p:spPr>
          <a:xfrm>
            <a:off x="-7615" y="-8575"/>
            <a:ext cx="12207240" cy="6866573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fb6d93c2e4_1_1"/>
          <p:cNvSpPr/>
          <p:nvPr/>
        </p:nvSpPr>
        <p:spPr>
          <a:xfrm>
            <a:off x="502920" y="502920"/>
            <a:ext cx="82200" cy="329100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fb6d93c2e4_1_1"/>
          <p:cNvSpPr/>
          <p:nvPr/>
        </p:nvSpPr>
        <p:spPr>
          <a:xfrm>
            <a:off x="685800" y="502920"/>
            <a:ext cx="8229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5 · PROJEÇÃO DE CUSTO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fb6d93c2e4_1_1"/>
          <p:cNvSpPr/>
          <p:nvPr/>
        </p:nvSpPr>
        <p:spPr>
          <a:xfrm>
            <a:off x="502920" y="896112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Investimento da Arquitetura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fb6d93c2e4_1_1"/>
          <p:cNvSpPr/>
          <p:nvPr/>
        </p:nvSpPr>
        <p:spPr>
          <a:xfrm>
            <a:off x="502925" y="1600200"/>
            <a:ext cx="11228700" cy="461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fb6d93c2e4_1_1"/>
          <p:cNvSpPr/>
          <p:nvPr/>
        </p:nvSpPr>
        <p:spPr>
          <a:xfrm>
            <a:off x="502920" y="6473952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fb6d93c2e4_1_1"/>
          <p:cNvSpPr/>
          <p:nvPr/>
        </p:nvSpPr>
        <p:spPr>
          <a:xfrm>
            <a:off x="11274552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g3fb6d93c2e4_1_1" title="Code_Generated_Imag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550" y="1649275"/>
            <a:ext cx="11121876" cy="45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fb6d93c2e4_1_1"/>
          <p:cNvSpPr/>
          <p:nvPr/>
        </p:nvSpPr>
        <p:spPr>
          <a:xfrm>
            <a:off x="685800" y="5759720"/>
            <a:ext cx="8229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FONTE:</a:t>
            </a:r>
            <a:r>
              <a:rPr b="1" i="0" lang="en-US" sz="1200" u="none" cap="none" strike="noStrike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i="0" lang="en-US" sz="1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CALCULADORA DE PREÇOS DA AZURE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5"/>
          <p:cNvSpPr/>
          <p:nvPr/>
        </p:nvSpPr>
        <p:spPr>
          <a:xfrm>
            <a:off x="-15240" y="0"/>
            <a:ext cx="12207240" cy="6866573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502920" y="502920"/>
            <a:ext cx="82296" cy="329184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685800" y="5029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6 · CONCLUSÃO E PRÓXIMOS PASSOS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502920" y="89611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Síntese, aprendizados e evolução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1" name="Google Shape;301;p15"/>
          <p:cNvGrpSpPr/>
          <p:nvPr/>
        </p:nvGrpSpPr>
        <p:grpSpPr>
          <a:xfrm>
            <a:off x="612364" y="1920430"/>
            <a:ext cx="3532500" cy="4114800"/>
            <a:chOff x="502920" y="1828800"/>
            <a:chExt cx="3532500" cy="4114800"/>
          </a:xfrm>
        </p:grpSpPr>
        <p:sp>
          <p:nvSpPr>
            <p:cNvPr id="302" name="Google Shape;302;p15"/>
            <p:cNvSpPr/>
            <p:nvPr/>
          </p:nvSpPr>
          <p:spPr>
            <a:xfrm>
              <a:off x="502920" y="1828800"/>
              <a:ext cx="3532500" cy="4114800"/>
            </a:xfrm>
            <a:prstGeom prst="rect">
              <a:avLst/>
            </a:prstGeom>
            <a:solidFill>
              <a:srgbClr val="1B1B21"/>
            </a:solidFill>
            <a:ln cap="flat" cmpd="sng" w="12700">
              <a:solidFill>
                <a:srgbClr val="34343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14300" rotWithShape="0" algn="bl" dir="5400000" dist="38100">
                <a:srgbClr val="000000">
                  <a:alpha val="45098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777240" y="2121408"/>
              <a:ext cx="603504" cy="603504"/>
            </a:xfrm>
            <a:prstGeom prst="ellipse">
              <a:avLst/>
            </a:prstGeom>
            <a:solidFill>
              <a:srgbClr val="14141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cons/check_green.png" id="304" name="Google Shape;304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14400" y="2258568"/>
              <a:ext cx="329184" cy="3291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5" name="Google Shape;305;p15"/>
            <p:cNvSpPr/>
            <p:nvPr/>
          </p:nvSpPr>
          <p:spPr>
            <a:xfrm>
              <a:off x="1490472" y="2121408"/>
              <a:ext cx="2435352" cy="6035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Trebuchet MS"/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Resultados obtidos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822960" y="3013921"/>
              <a:ext cx="118800" cy="118800"/>
            </a:xfrm>
            <a:prstGeom prst="ellipse">
              <a:avLst/>
            </a:prstGeom>
            <a:solidFill>
              <a:srgbClr val="2FBF7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1069848" y="2876761"/>
              <a:ext cx="2709600" cy="86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A7B0"/>
                </a:buClr>
                <a:buSzPts val="118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A7A7B0"/>
                  </a:solidFill>
                  <a:latin typeface="Calibri"/>
                  <a:ea typeface="Calibri"/>
                  <a:cs typeface="Calibri"/>
                  <a:sym typeface="Calibri"/>
                </a:rPr>
                <a:t>Identificação de 63% dos atrasos (OLA) analisando/processando 20% da fila de incidentes.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822960" y="3946609"/>
              <a:ext cx="118800" cy="118800"/>
            </a:xfrm>
            <a:prstGeom prst="ellipse">
              <a:avLst/>
            </a:prstGeom>
            <a:solidFill>
              <a:srgbClr val="2FBF7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1069848" y="3809449"/>
              <a:ext cx="2709600" cy="86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A7B0"/>
                </a:buClr>
                <a:buSzPts val="118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A7A7B0"/>
                  </a:solidFill>
                  <a:latin typeface="Calibri"/>
                  <a:ea typeface="Calibri"/>
                  <a:cs typeface="Calibri"/>
                  <a:sym typeface="Calibri"/>
                </a:rPr>
                <a:t>Tradução de mais de 11 mil descrições técnicas em 20 categorias claras.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0" name="Google Shape;310;p15"/>
          <p:cNvSpPr/>
          <p:nvPr/>
        </p:nvSpPr>
        <p:spPr>
          <a:xfrm>
            <a:off x="8153400" y="1828800"/>
            <a:ext cx="3532632" cy="411480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8153400" y="1828800"/>
            <a:ext cx="3532632" cy="82296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8427720" y="2121408"/>
            <a:ext cx="603504" cy="603504"/>
          </a:xfrm>
          <a:prstGeom prst="ellipse">
            <a:avLst/>
          </a:prstGeom>
          <a:solidFill>
            <a:srgbClr val="14141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rocket_red.png" id="313" name="Google Shape;3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64880" y="225856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5"/>
          <p:cNvSpPr/>
          <p:nvPr/>
        </p:nvSpPr>
        <p:spPr>
          <a:xfrm>
            <a:off x="9140952" y="2121408"/>
            <a:ext cx="243535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Próximos passos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8473440" y="3017520"/>
            <a:ext cx="118872" cy="118872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8473440" y="4023060"/>
            <a:ext cx="118872" cy="118872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8720328" y="2881112"/>
            <a:ext cx="2709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180"/>
              <a:buFont typeface="Calibri"/>
              <a:buNone/>
            </a:pPr>
            <a:r>
              <a:rPr b="0" i="0" lang="en-US" sz="1400" u="none" cap="none" strike="noStrike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Operacionalizar a solução na nuvem, atualizando os painéis em tempo real.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8720328" y="3844740"/>
            <a:ext cx="27096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180"/>
              <a:buFont typeface="Calibri"/>
              <a:buNone/>
            </a:pPr>
            <a:r>
              <a:rPr b="0" i="0" lang="en-US" sz="1400" u="none" cap="none" strike="noStrike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Integração do modelo desenvolvido com o sistema de gestão de incidentes da LOCAWEB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502920" y="1828800"/>
            <a:ext cx="3532632" cy="82296"/>
          </a:xfrm>
          <a:prstGeom prst="rect">
            <a:avLst/>
          </a:prstGeom>
          <a:solidFill>
            <a:srgbClr val="2FBF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"/>
          <p:cNvSpPr/>
          <p:nvPr/>
        </p:nvSpPr>
        <p:spPr>
          <a:xfrm>
            <a:off x="-15240" y="0"/>
            <a:ext cx="12207240" cy="6858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5"/>
          <p:cNvSpPr/>
          <p:nvPr/>
        </p:nvSpPr>
        <p:spPr>
          <a:xfrm>
            <a:off x="502920" y="502920"/>
            <a:ext cx="82296" cy="329184"/>
          </a:xfrm>
          <a:prstGeom prst="rect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5"/>
          <p:cNvSpPr/>
          <p:nvPr/>
        </p:nvSpPr>
        <p:spPr>
          <a:xfrm>
            <a:off x="685800" y="5029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7 · Ganhos com a solução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5"/>
          <p:cNvSpPr/>
          <p:nvPr/>
        </p:nvSpPr>
        <p:spPr>
          <a:xfrm>
            <a:off x="502920" y="896112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 que a </a:t>
            </a: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Ana </a:t>
            </a: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terá de solução?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5"/>
          <p:cNvSpPr/>
          <p:nvPr/>
        </p:nvSpPr>
        <p:spPr>
          <a:xfrm>
            <a:off x="502920" y="1998938"/>
            <a:ext cx="5431536" cy="178308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5"/>
          <p:cNvSpPr/>
          <p:nvPr/>
        </p:nvSpPr>
        <p:spPr>
          <a:xfrm>
            <a:off x="4654296" y="2090378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9"/>
              </a:buClr>
              <a:buSzPts val="4400"/>
              <a:buFont typeface="Arial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4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5"/>
          <p:cNvSpPr/>
          <p:nvPr/>
        </p:nvSpPr>
        <p:spPr>
          <a:xfrm>
            <a:off x="822960" y="2382986"/>
            <a:ext cx="685800" cy="685800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target_white.png" id="334" name="Google Shape;33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7552" y="254757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5"/>
          <p:cNvSpPr/>
          <p:nvPr/>
        </p:nvSpPr>
        <p:spPr>
          <a:xfrm>
            <a:off x="1691640" y="2364698"/>
            <a:ext cx="4059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Antecipar incidentes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5"/>
          <p:cNvSpPr/>
          <p:nvPr/>
        </p:nvSpPr>
        <p:spPr>
          <a:xfrm>
            <a:off x="1691640" y="2895050"/>
            <a:ext cx="401421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250"/>
              <a:buFont typeface="Calibri"/>
              <a:buNone/>
            </a:pPr>
            <a:r>
              <a:rPr b="0" i="0" lang="en-US" sz="1400" u="none" cap="none" strike="noStrike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Previsão de volume para o próximo dia (D+1) e a próxima semana (D+7).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5"/>
          <p:cNvSpPr/>
          <p:nvPr/>
        </p:nvSpPr>
        <p:spPr>
          <a:xfrm>
            <a:off x="6254496" y="1998938"/>
            <a:ext cx="5431536" cy="178308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5"/>
          <p:cNvSpPr/>
          <p:nvPr/>
        </p:nvSpPr>
        <p:spPr>
          <a:xfrm>
            <a:off x="10405872" y="2090378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9"/>
              </a:buClr>
              <a:buSzPts val="4400"/>
              <a:buFont typeface="Arial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4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5"/>
          <p:cNvSpPr/>
          <p:nvPr/>
        </p:nvSpPr>
        <p:spPr>
          <a:xfrm>
            <a:off x="6574536" y="2382986"/>
            <a:ext cx="685800" cy="685800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hart_white.png" id="340" name="Google Shape;34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39128" y="254757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5"/>
          <p:cNvSpPr/>
          <p:nvPr/>
        </p:nvSpPr>
        <p:spPr>
          <a:xfrm>
            <a:off x="7443216" y="2364698"/>
            <a:ext cx="4059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Identificar tendências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5"/>
          <p:cNvSpPr/>
          <p:nvPr/>
        </p:nvSpPr>
        <p:spPr>
          <a:xfrm>
            <a:off x="7443216" y="2895050"/>
            <a:ext cx="401421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250"/>
              <a:buFont typeface="Calibri"/>
              <a:buNone/>
            </a:pPr>
            <a:r>
              <a:rPr b="0" i="0" lang="en-US" sz="1400" u="none" cap="none" strike="noStrike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Por prioridade (P2 e P3 obrigatórias), por categoria, produto e item de configuração.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5"/>
          <p:cNvSpPr/>
          <p:nvPr/>
        </p:nvSpPr>
        <p:spPr>
          <a:xfrm>
            <a:off x="502920" y="4056338"/>
            <a:ext cx="5431536" cy="178308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5"/>
          <p:cNvSpPr/>
          <p:nvPr/>
        </p:nvSpPr>
        <p:spPr>
          <a:xfrm>
            <a:off x="4654296" y="4147778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9"/>
              </a:buClr>
              <a:buSzPts val="4400"/>
              <a:buFont typeface="Arial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4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5"/>
          <p:cNvSpPr/>
          <p:nvPr/>
        </p:nvSpPr>
        <p:spPr>
          <a:xfrm>
            <a:off x="822960" y="4440386"/>
            <a:ext cx="685800" cy="685800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gauge_white.png" id="346" name="Google Shape;3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7552" y="460497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5"/>
          <p:cNvSpPr/>
          <p:nvPr/>
        </p:nvSpPr>
        <p:spPr>
          <a:xfrm>
            <a:off x="1691640" y="4422098"/>
            <a:ext cx="4059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Projetar impacto nos KPIs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5"/>
          <p:cNvSpPr/>
          <p:nvPr/>
        </p:nvSpPr>
        <p:spPr>
          <a:xfrm>
            <a:off x="1691640" y="4952450"/>
            <a:ext cx="401421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250"/>
              <a:buFont typeface="Calibri"/>
              <a:buNone/>
            </a:pPr>
            <a:r>
              <a:rPr b="0" i="0" lang="en-US" sz="1400" u="none" cap="none" strike="noStrike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Tendência diária de volume e de perda de OLA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5"/>
          <p:cNvSpPr/>
          <p:nvPr/>
        </p:nvSpPr>
        <p:spPr>
          <a:xfrm>
            <a:off x="6254496" y="4056338"/>
            <a:ext cx="5431536" cy="1783080"/>
          </a:xfrm>
          <a:prstGeom prst="rect">
            <a:avLst/>
          </a:prstGeom>
          <a:solidFill>
            <a:srgbClr val="1B1B21"/>
          </a:solidFill>
          <a:ln cap="flat" cmpd="sng" w="12700">
            <a:solidFill>
              <a:srgbClr val="34343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5"/>
          <p:cNvSpPr/>
          <p:nvPr/>
        </p:nvSpPr>
        <p:spPr>
          <a:xfrm>
            <a:off x="10405872" y="4147778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9"/>
              </a:buClr>
              <a:buSzPts val="4400"/>
              <a:buFont typeface="Arial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4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5"/>
          <p:cNvSpPr/>
          <p:nvPr/>
        </p:nvSpPr>
        <p:spPr>
          <a:xfrm>
            <a:off x="6574536" y="4440386"/>
            <a:ext cx="685800" cy="685800"/>
          </a:xfrm>
          <a:prstGeom prst="ellipse">
            <a:avLst/>
          </a:prstGeom>
          <a:solidFill>
            <a:srgbClr val="FF313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rosshair_white.png" id="352" name="Google Shape;35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39128" y="460497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"/>
          <p:cNvSpPr/>
          <p:nvPr/>
        </p:nvSpPr>
        <p:spPr>
          <a:xfrm>
            <a:off x="7443216" y="4422098"/>
            <a:ext cx="4059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Apoiar a decisão operacional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5"/>
          <p:cNvSpPr/>
          <p:nvPr/>
        </p:nvSpPr>
        <p:spPr>
          <a:xfrm>
            <a:off x="7443216" y="4952450"/>
            <a:ext cx="401421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7A7B0"/>
              </a:buClr>
              <a:buSzPts val="1250"/>
              <a:buFont typeface="Calibri"/>
              <a:buNone/>
            </a:pPr>
            <a:r>
              <a:rPr b="0" i="0" lang="en-US" sz="1400" u="none" cap="none" strike="noStrike">
                <a:solidFill>
                  <a:srgbClr val="A7A7B0"/>
                </a:solidFill>
                <a:latin typeface="Calibri"/>
                <a:ea typeface="Calibri"/>
                <a:cs typeface="Calibri"/>
                <a:sym typeface="Calibri"/>
              </a:rPr>
              <a:t>Indicar onde agir preventivamente, com recomendações práticas para a operação.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5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KAIRÓS · Challenge Locaweb × FIAP 2026 · Sprint 4 — Solução Final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6767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" y="0"/>
            <a:ext cx="121846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6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3131"/>
                </a:solidFill>
                <a:latin typeface="Trebuchet MS"/>
                <a:ea typeface="Trebuchet MS"/>
                <a:cs typeface="Trebuchet MS"/>
                <a:sym typeface="Trebuchet MS"/>
              </a:rPr>
              <a:t>Grupo Kairós · Turma 2TSCPV · Challenge Locaweb × FIAP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2026-09-13T18:21:52Z</dcterms:created>
  <dc:creator>Mike Lucio Rubim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31bb91f-85df-4eae-877e-44116f7a1e81_Enabled">
    <vt:lpwstr>true</vt:lpwstr>
  </property>
  <property fmtid="{D5CDD505-2E9C-101B-9397-08002B2CF9AE}" pid="3" name="MSIP_Label_331bb91f-85df-4eae-877e-44116f7a1e81_SetDate">
    <vt:lpwstr>2026-09-13T18:27:32Z</vt:lpwstr>
  </property>
  <property fmtid="{D5CDD505-2E9C-101B-9397-08002B2CF9AE}" pid="4" name="MSIP_Label_331bb91f-85df-4eae-877e-44116f7a1e81_Method">
    <vt:lpwstr>Privileged</vt:lpwstr>
  </property>
  <property fmtid="{D5CDD505-2E9C-101B-9397-08002B2CF9AE}" pid="5" name="MSIP_Label_331bb91f-85df-4eae-877e-44116f7a1e81_Name">
    <vt:lpwstr>Publico</vt:lpwstr>
  </property>
  <property fmtid="{D5CDD505-2E9C-101B-9397-08002B2CF9AE}" pid="6" name="MSIP_Label_331bb91f-85df-4eae-877e-44116f7a1e81_SiteId">
    <vt:lpwstr>a8e87d00-317f-4429-b6f1-ceac0115b7d1</vt:lpwstr>
  </property>
  <property fmtid="{D5CDD505-2E9C-101B-9397-08002B2CF9AE}" pid="7" name="MSIP_Label_331bb91f-85df-4eae-877e-44116f7a1e81_ActionId">
    <vt:lpwstr>bae37b58-aee3-4ef5-ae84-493142f4fb7b</vt:lpwstr>
  </property>
  <property fmtid="{D5CDD505-2E9C-101B-9397-08002B2CF9AE}" pid="8" name="MSIP_Label_331bb91f-85df-4eae-877e-44116f7a1e81_ContentBits">
    <vt:lpwstr>0</vt:lpwstr>
  </property>
  <property fmtid="{D5CDD505-2E9C-101B-9397-08002B2CF9AE}" pid="9" name="MSIP_Label_331bb91f-85df-4eae-877e-44116f7a1e81_Tag">
    <vt:lpwstr>10, 0, 1, 1</vt:lpwstr>
  </property>
</Properties>
</file>